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8"/>
    <p:sldId id="267"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  <Relationship Id="rId18"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900" b="1" i="0">
                <a:solidFill>
                  <a:srgbClr val="17365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900" b="1" i="0">
                <a:solidFill>
                  <a:srgbClr val="17365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60957" y="29717"/>
            <a:ext cx="8466455" cy="1375867"/>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a:xfrm>
            <a:off x="761796" y="1668272"/>
            <a:ext cx="8348980" cy="1837054"/>
          </a:xfrm>
          <a:prstGeom prst="rect">
            <a:avLst/>
          </a:prstGeom>
        </p:spPr>
        <p:txBody>
          <a:bodyPr wrap="square" lIns="0" tIns="0" rIns="0" bIns="0">
            <a:spAutoFit/>
          </a:bodyPr>
          <a:lstStyle>
            <a:lvl1pPr>
              <a:defRPr sz="2900" b="1" i="0">
                <a:solidFill>
                  <a:srgbClr val="17365D"/>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4" Type="http://schemas.openxmlformats.org/officeDocument/2006/relationships/image" Target="../media/image3.png" /></Relationships>
</file>

<file path=ppt/slides/_rels/slide7.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4" Type="http://schemas.openxmlformats.org/officeDocument/2006/relationships/image" Target="../media/image3.png" /></Relationships>
</file>

<file path=ppt/slides/_rels/slide8.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5" Type="http://schemas.openxmlformats.org/officeDocument/2006/relationships/image" Target="../media/image4.png" /><Relationship Id="rId4" Type="http://schemas.openxmlformats.org/officeDocument/2006/relationships/image" Target="../media/image3.png" /></Relationships>
</file>

<file path=ppt/slides/_rels/slide9.xml.rels><?xml version="1.0" encoding="UTF-8" standalone="yes"?>
<Relationships xmlns="http://schemas.openxmlformats.org/package/2006/relationships"><Relationship Id="rId8" Type="http://schemas.openxmlformats.org/officeDocument/2006/relationships/image" Target="../media/image8.png" /><Relationship Id="rId3" Type="http://schemas.openxmlformats.org/officeDocument/2006/relationships/image" Target="../media/image2.jpg" /><Relationship Id="rId7" Type="http://schemas.openxmlformats.org/officeDocument/2006/relationships/image" Target="../media/image7.png" /><Relationship Id="rId2" Type="http://schemas.openxmlformats.org/officeDocument/2006/relationships/image" Target="../media/image1.jpg" /><Relationship Id="rId1" Type="http://schemas.openxmlformats.org/officeDocument/2006/relationships/slideLayout" Target="../slideLayouts/slideLayout4.xml" /><Relationship Id="rId6" Type="http://schemas.openxmlformats.org/officeDocument/2006/relationships/image" Target="../media/image6.png" /><Relationship Id="rId5" Type="http://schemas.openxmlformats.org/officeDocument/2006/relationships/image" Target="../media/image5.png" /><Relationship Id="rId4" Type="http://schemas.openxmlformats.org/officeDocument/2006/relationships/image" Target="../media/image3.png" /></Relationships>
</file>

<file path=ppt/slides/_rels/slide10.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5" Type="http://schemas.openxmlformats.org/officeDocument/2006/relationships/image" Target="../media/image9.png" /><Relationship Id="rId4" Type="http://schemas.openxmlformats.org/officeDocument/2006/relationships/image" Target="../media/image3.png" /></Relationships>
</file>

<file path=ppt/slides/_rels/slide1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5" Type="http://schemas.openxmlformats.org/officeDocument/2006/relationships/image" Target="../media/image10.png" /><Relationship Id="rId4" Type="http://schemas.openxmlformats.org/officeDocument/2006/relationships/image" Target="../media/image3.png" /></Relationships>
</file>

<file path=ppt/slides/_rels/slide12.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4" Type="http://schemas.openxmlformats.org/officeDocument/2006/relationships/image" Target="../media/image3.png" /></Relationships>
</file>

<file path=ppt/slides/_rels/slide1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 Id="rId4"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0" y="228600"/>
            <a:ext cx="1447800" cy="1197864"/>
          </a:xfrm>
          <a:prstGeom prst="rect">
            <a:avLst/>
          </a:prstGeom>
        </p:spPr>
      </p:pic>
      <p:sp>
        <p:nvSpPr>
          <p:cNvPr id="7" name="object 7" descr="$PPTXTitle"/>
          <p:cNvSpPr txBox="1">
            <a:spLocks noGrp="1"/>
          </p:cNvSpPr>
          <p:nvPr>
            <p:ph type="title"/>
          </p:nvPr>
        </p:nvSpPr>
        <p:spPr>
          <a:xfrm>
            <a:off x="609600" y="134295"/>
            <a:ext cx="10134600" cy="1129617"/>
          </a:xfrm>
          <a:prstGeom prst="rect">
            <a:avLst/>
          </a:prstGeom>
        </p:spPr>
        <p:txBody>
          <a:bodyPr vert="horz" wrap="square" lIns="0" tIns="387172" rIns="0" bIns="0" rtlCol="0">
            <a:spAutoFit/>
          </a:bodyPr>
          <a:lstStyle/>
          <a:p>
            <a:pPr marL="582930" marR="5080" indent="-570865" algn="ctr">
              <a:lnSpc>
                <a:spcPct val="100000"/>
              </a:lnSpc>
              <a:spcBef>
                <a:spcPts val="95"/>
              </a:spcBef>
            </a:pPr>
            <a:r>
              <a:rPr lang="en-US" sz="2400" dirty="0">
                <a:solidFill>
                  <a:schemeClr val="accent1">
                    <a:lumMod val="50000"/>
                  </a:schemeClr>
                </a:solidFill>
                <a:latin typeface="Times New Roman" panose="02020603050405020304" pitchFamily="18" charset="0"/>
                <a:cs typeface="Times New Roman" panose="02020603050405020304" pitchFamily="18" charset="0"/>
              </a:rPr>
              <a:t>DATTA MEGHE COLLEGE OF ENGINEERING, AIROLI DEPARTMENT OF COMPUTER ENGINEERING</a:t>
            </a:r>
            <a:endParaRPr sz="2400"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6" name="object 6"/>
          <p:cNvPicPr/>
          <p:nvPr/>
        </p:nvPicPr>
        <p:blipFill>
          <a:blip r:embed="rId3" cstate="print"/>
          <a:stretch>
            <a:fillRect/>
          </a:stretch>
        </p:blipFill>
        <p:spPr>
          <a:xfrm>
            <a:off x="10058400" y="0"/>
            <a:ext cx="1895855" cy="1834896"/>
          </a:xfrm>
          <a:prstGeom prst="rect">
            <a:avLst/>
          </a:prstGeom>
        </p:spPr>
      </p:pic>
      <p:sp>
        <p:nvSpPr>
          <p:cNvPr id="2" name="object 2"/>
          <p:cNvSpPr txBox="1">
            <a:spLocks noGrp="1"/>
          </p:cNvSpPr>
          <p:nvPr>
            <p:ph type="body" idx="1"/>
          </p:nvPr>
        </p:nvSpPr>
        <p:spPr>
          <a:xfrm>
            <a:off x="920340" y="1497368"/>
            <a:ext cx="8348980" cy="382797"/>
          </a:xfrm>
          <a:prstGeom prst="rect">
            <a:avLst/>
          </a:prstGeom>
        </p:spPr>
        <p:txBody>
          <a:bodyPr vert="horz" wrap="square" lIns="0" tIns="13335" rIns="0" bIns="0" rtlCol="0">
            <a:spAutoFit/>
          </a:bodyPr>
          <a:lstStyle/>
          <a:p>
            <a:pPr marL="1427480" algn="ctr">
              <a:lnSpc>
                <a:spcPct val="100000"/>
              </a:lnSpc>
              <a:spcBef>
                <a:spcPts val="105"/>
              </a:spcBef>
            </a:pPr>
            <a:r>
              <a:rPr lang="en-US" sz="2400" dirty="0">
                <a:latin typeface="Times New Roman" panose="02020603050405020304" pitchFamily="18" charset="0"/>
                <a:cs typeface="Times New Roman" panose="02020603050405020304" pitchFamily="18" charset="0"/>
              </a:rPr>
              <a:t>B.E. (Sem VII) MAJOR PROJECT </a:t>
            </a:r>
            <a:endParaRPr sz="2400" dirty="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3300948509"/>
              </p:ext>
            </p:extLst>
          </p:nvPr>
        </p:nvGraphicFramePr>
        <p:xfrm>
          <a:off x="908050" y="3575050"/>
          <a:ext cx="9982834" cy="2286000"/>
        </p:xfrm>
        <a:graphic>
          <a:graphicData uri="http://schemas.openxmlformats.org/drawingml/2006/table">
            <a:tbl>
              <a:tblPr firstRow="1" bandRow="1">
                <a:tableStyleId>{2D5ABB26-0587-4C30-8999-92F81FD0307C}</a:tableStyleId>
              </a:tblPr>
              <a:tblGrid>
                <a:gridCol w="11430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2216150">
                  <a:extLst>
                    <a:ext uri="{9D8B030D-6E8A-4147-A177-3AD203B41FA5}">
                      <a16:colId xmlns:a16="http://schemas.microsoft.com/office/drawing/2014/main" val="20002"/>
                    </a:ext>
                  </a:extLst>
                </a:gridCol>
                <a:gridCol w="4642484">
                  <a:extLst>
                    <a:ext uri="{9D8B030D-6E8A-4147-A177-3AD203B41FA5}">
                      <a16:colId xmlns:a16="http://schemas.microsoft.com/office/drawing/2014/main" val="20003"/>
                    </a:ext>
                  </a:extLst>
                </a:gridCol>
              </a:tblGrid>
              <a:tr h="457200">
                <a:tc>
                  <a:txBody>
                    <a:bodyPr/>
                    <a:lstStyle/>
                    <a:p>
                      <a:pPr marL="1905" algn="ctr">
                        <a:lnSpc>
                          <a:spcPct val="100000"/>
                        </a:lnSpc>
                        <a:spcBef>
                          <a:spcPts val="250"/>
                        </a:spcBef>
                      </a:pPr>
                      <a:r>
                        <a:rPr sz="2400" b="1" spc="-200" dirty="0">
                          <a:latin typeface="Times New Roman" panose="02020603050405020304" pitchFamily="18" charset="0"/>
                          <a:cs typeface="Times New Roman" panose="02020603050405020304" pitchFamily="18" charset="0"/>
                        </a:rPr>
                        <a:t>Sr.</a:t>
                      </a:r>
                      <a:r>
                        <a:rPr sz="2400" b="1" spc="-114" dirty="0">
                          <a:latin typeface="Times New Roman" panose="02020603050405020304" pitchFamily="18" charset="0"/>
                          <a:cs typeface="Times New Roman" panose="02020603050405020304" pitchFamily="18" charset="0"/>
                        </a:rPr>
                        <a:t> </a:t>
                      </a:r>
                      <a:r>
                        <a:rPr sz="2400" b="1" spc="-340" dirty="0">
                          <a:latin typeface="Times New Roman" panose="02020603050405020304" pitchFamily="18" charset="0"/>
                          <a:cs typeface="Times New Roman" panose="02020603050405020304" pitchFamily="18" charset="0"/>
                        </a:rPr>
                        <a:t>N</a:t>
                      </a:r>
                      <a:r>
                        <a:rPr lang="en-US" sz="2400" b="1" spc="-340" dirty="0">
                          <a:latin typeface="Times New Roman" panose="02020603050405020304" pitchFamily="18" charset="0"/>
                          <a:cs typeface="Times New Roman" panose="02020603050405020304" pitchFamily="18" charset="0"/>
                        </a:rPr>
                        <a:t> </a:t>
                      </a:r>
                      <a:r>
                        <a:rPr sz="2400" b="1" spc="-340" dirty="0">
                          <a:latin typeface="Times New Roman" panose="02020603050405020304" pitchFamily="18" charset="0"/>
                          <a:cs typeface="Times New Roman" panose="02020603050405020304" pitchFamily="18" charset="0"/>
                        </a:rPr>
                        <a:t>o</a:t>
                      </a:r>
                      <a:endParaRPr sz="2400" dirty="0">
                        <a:latin typeface="Times New Roman" panose="02020603050405020304" pitchFamily="18" charset="0"/>
                        <a:cs typeface="Times New Roman" panose="02020603050405020304" pitchFamily="18" charset="0"/>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379095" algn="ctr">
                        <a:lnSpc>
                          <a:spcPct val="100000"/>
                        </a:lnSpc>
                        <a:spcBef>
                          <a:spcPts val="250"/>
                        </a:spcBef>
                      </a:pPr>
                      <a:r>
                        <a:rPr lang="en-US" sz="2400" b="1" dirty="0">
                          <a:latin typeface="Times New Roman" panose="02020603050405020304" pitchFamily="18" charset="0"/>
                          <a:cs typeface="Times New Roman" panose="02020603050405020304" pitchFamily="18" charset="0"/>
                        </a:rPr>
                        <a:t>Student ID</a:t>
                      </a:r>
                      <a:endParaRPr sz="2400" b="1" dirty="0">
                        <a:latin typeface="Times New Roman" panose="02020603050405020304" pitchFamily="18" charset="0"/>
                        <a:cs typeface="Times New Roman" panose="02020603050405020304" pitchFamily="18" charset="0"/>
                      </a:endParaRPr>
                    </a:p>
                  </a:txBody>
                  <a:tcPr marL="0" marR="0" marT="3175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F81BC"/>
                    </a:solidFill>
                  </a:tcPr>
                </a:tc>
                <a:tc>
                  <a:txBody>
                    <a:bodyPr/>
                    <a:lstStyle/>
                    <a:p>
                      <a:pPr marL="214629" algn="ctr">
                        <a:lnSpc>
                          <a:spcPct val="100000"/>
                        </a:lnSpc>
                        <a:spcBef>
                          <a:spcPts val="325"/>
                        </a:spcBef>
                      </a:pPr>
                      <a:r>
                        <a:rPr lang="en-US" sz="2400" b="1" dirty="0">
                          <a:latin typeface="Times New Roman" panose="02020603050405020304" pitchFamily="18" charset="0"/>
                          <a:cs typeface="Times New Roman" panose="02020603050405020304" pitchFamily="18" charset="0"/>
                        </a:rPr>
                        <a:t>Roll Number</a:t>
                      </a:r>
                      <a:endParaRPr sz="2400" b="1"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325"/>
                        </a:spcBef>
                      </a:pPr>
                      <a:r>
                        <a:rPr lang="en-US" sz="2400" b="1" dirty="0">
                          <a:latin typeface="Times New Roman" panose="02020603050405020304" pitchFamily="18" charset="0"/>
                          <a:cs typeface="Times New Roman" panose="02020603050405020304" pitchFamily="18" charset="0"/>
                        </a:rPr>
                        <a:t>Name of Students</a:t>
                      </a:r>
                      <a:endParaRPr sz="2400" b="1"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457200">
                <a:tc>
                  <a:txBody>
                    <a:bodyPr/>
                    <a:lstStyle/>
                    <a:p>
                      <a:pPr algn="ctr">
                        <a:lnSpc>
                          <a:spcPct val="100000"/>
                        </a:lnSpc>
                        <a:spcBef>
                          <a:spcPts val="254"/>
                        </a:spcBef>
                      </a:pPr>
                      <a:r>
                        <a:rPr sz="1800" b="1" spc="-305" dirty="0">
                          <a:latin typeface="Times New Roman" panose="02020603050405020304" pitchFamily="18" charset="0"/>
                          <a:cs typeface="Times New Roman" panose="02020603050405020304" pitchFamily="18" charset="0"/>
                        </a:rPr>
                        <a:t>1</a:t>
                      </a:r>
                      <a:endParaRPr sz="1800">
                        <a:latin typeface="Times New Roman" panose="02020603050405020304" pitchFamily="18" charset="0"/>
                        <a:cs typeface="Times New Roman" panose="02020603050405020304" pitchFamily="18" charset="0"/>
                      </a:endParaRPr>
                    </a:p>
                  </a:txBody>
                  <a:tcPr marL="0" marR="0" marT="3238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2023FHCO086</a:t>
                      </a:r>
                      <a:endParaRPr sz="2000" dirty="0">
                        <a:latin typeface="Times New Roman" panose="02020603050405020304" pitchFamily="18"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6E7"/>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43</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Om Ananta </a:t>
                      </a:r>
                      <a:r>
                        <a:rPr lang="en-US" sz="2000" dirty="0" err="1">
                          <a:latin typeface="Times New Roman" panose="02020603050405020304" pitchFamily="18" charset="0"/>
                          <a:cs typeface="Times New Roman" panose="02020603050405020304" pitchFamily="18" charset="0"/>
                        </a:rPr>
                        <a:t>Shingne</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1"/>
                  </a:ext>
                </a:extLst>
              </a:tr>
              <a:tr h="457200">
                <a:tc>
                  <a:txBody>
                    <a:bodyPr/>
                    <a:lstStyle/>
                    <a:p>
                      <a:pPr algn="ctr">
                        <a:lnSpc>
                          <a:spcPct val="100000"/>
                        </a:lnSpc>
                        <a:spcBef>
                          <a:spcPts val="254"/>
                        </a:spcBef>
                      </a:pPr>
                      <a:r>
                        <a:rPr sz="1800" b="1" spc="-305" dirty="0">
                          <a:latin typeface="Times New Roman" panose="02020603050405020304" pitchFamily="18" charset="0"/>
                          <a:cs typeface="Times New Roman" panose="02020603050405020304" pitchFamily="18" charset="0"/>
                        </a:rPr>
                        <a:t>2</a:t>
                      </a:r>
                      <a:endParaRPr sz="1800">
                        <a:latin typeface="Times New Roman" panose="02020603050405020304" pitchFamily="18" charset="0"/>
                        <a:cs typeface="Times New Roman" panose="02020603050405020304" pitchFamily="18" charset="0"/>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F4"/>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2023FHCO121</a:t>
                      </a:r>
                      <a:endParaRPr sz="2000" dirty="0">
                        <a:latin typeface="Times New Roman" panose="02020603050405020304" pitchFamily="18"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4"/>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50</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F4"/>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Chinmay Vinay Tambe</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F4"/>
                    </a:solidFill>
                  </a:tcPr>
                </a:tc>
                <a:extLst>
                  <a:ext uri="{0D108BD9-81ED-4DB2-BD59-A6C34878D82A}">
                    <a16:rowId xmlns:a16="http://schemas.microsoft.com/office/drawing/2014/main" val="10002"/>
                  </a:ext>
                </a:extLst>
              </a:tr>
              <a:tr h="457200">
                <a:tc>
                  <a:txBody>
                    <a:bodyPr/>
                    <a:lstStyle/>
                    <a:p>
                      <a:pPr algn="ctr">
                        <a:lnSpc>
                          <a:spcPct val="100000"/>
                        </a:lnSpc>
                        <a:spcBef>
                          <a:spcPts val="254"/>
                        </a:spcBef>
                      </a:pPr>
                      <a:r>
                        <a:rPr sz="1800" b="1" spc="-305" dirty="0">
                          <a:latin typeface="Times New Roman" panose="02020603050405020304" pitchFamily="18" charset="0"/>
                          <a:cs typeface="Times New Roman" panose="02020603050405020304" pitchFamily="18" charset="0"/>
                        </a:rPr>
                        <a:t>3</a:t>
                      </a:r>
                      <a:endParaRPr sz="1800">
                        <a:latin typeface="Times New Roman" panose="02020603050405020304" pitchFamily="18" charset="0"/>
                        <a:cs typeface="Times New Roman" panose="02020603050405020304" pitchFamily="18" charset="0"/>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2023FHCO019</a:t>
                      </a:r>
                      <a:endParaRPr sz="2000" dirty="0">
                        <a:latin typeface="Times New Roman" panose="02020603050405020304" pitchFamily="18"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6E7"/>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54</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Raj </a:t>
                      </a:r>
                      <a:r>
                        <a:rPr lang="en-US" sz="2000" dirty="0" err="1">
                          <a:latin typeface="Times New Roman" panose="02020603050405020304" pitchFamily="18" charset="0"/>
                          <a:cs typeface="Times New Roman" panose="02020603050405020304" pitchFamily="18" charset="0"/>
                        </a:rPr>
                        <a:t>Vijaykant</a:t>
                      </a:r>
                      <a:r>
                        <a:rPr lang="en-US" sz="2000" dirty="0">
                          <a:latin typeface="Times New Roman" panose="02020603050405020304" pitchFamily="18" charset="0"/>
                          <a:cs typeface="Times New Roman" panose="02020603050405020304" pitchFamily="18" charset="0"/>
                        </a:rPr>
                        <a:t> Yadav</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3"/>
                  </a:ext>
                </a:extLst>
              </a:tr>
              <a:tr h="457200">
                <a:tc>
                  <a:txBody>
                    <a:bodyPr/>
                    <a:lstStyle/>
                    <a:p>
                      <a:pPr algn="ctr">
                        <a:lnSpc>
                          <a:spcPct val="100000"/>
                        </a:lnSpc>
                        <a:spcBef>
                          <a:spcPts val="260"/>
                        </a:spcBef>
                      </a:pPr>
                      <a:r>
                        <a:rPr sz="1800" b="1" spc="-305" dirty="0">
                          <a:latin typeface="Times New Roman" panose="02020603050405020304" pitchFamily="18" charset="0"/>
                          <a:cs typeface="Times New Roman" panose="02020603050405020304" pitchFamily="18" charset="0"/>
                        </a:rPr>
                        <a:t>4</a:t>
                      </a:r>
                      <a:endParaRPr sz="1800" dirty="0">
                        <a:latin typeface="Times New Roman" panose="02020603050405020304" pitchFamily="18" charset="0"/>
                        <a:cs typeface="Times New Roman" panose="02020603050405020304" pitchFamily="18" charset="0"/>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F4"/>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2024DSCO027</a:t>
                      </a:r>
                      <a:endParaRPr sz="2000" dirty="0">
                        <a:latin typeface="Times New Roman" panose="02020603050405020304" pitchFamily="18"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8EBF4"/>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59</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F4"/>
                    </a:solidFill>
                  </a:tcPr>
                </a:tc>
                <a:tc>
                  <a:txBody>
                    <a:bodyPr/>
                    <a:lstStyle/>
                    <a:p>
                      <a:pPr algn="ctr">
                        <a:lnSpc>
                          <a:spcPct val="100000"/>
                        </a:lnSpc>
                      </a:pPr>
                      <a:r>
                        <a:rPr lang="en-US" sz="2000" dirty="0">
                          <a:latin typeface="Times New Roman" panose="02020603050405020304" pitchFamily="18" charset="0"/>
                          <a:cs typeface="Times New Roman" panose="02020603050405020304" pitchFamily="18" charset="0"/>
                        </a:rPr>
                        <a:t>Diksha Kailas Mirgal</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F4"/>
                    </a:solidFill>
                  </a:tcPr>
                </a:tc>
                <a:extLst>
                  <a:ext uri="{0D108BD9-81ED-4DB2-BD59-A6C34878D82A}">
                    <a16:rowId xmlns:a16="http://schemas.microsoft.com/office/drawing/2014/main" val="10004"/>
                  </a:ext>
                </a:extLst>
              </a:tr>
            </a:tbl>
          </a:graphicData>
        </a:graphic>
      </p:graphicFrame>
      <p:sp>
        <p:nvSpPr>
          <p:cNvPr id="3" name="object 3"/>
          <p:cNvSpPr txBox="1"/>
          <p:nvPr/>
        </p:nvSpPr>
        <p:spPr>
          <a:xfrm>
            <a:off x="761796" y="6077203"/>
            <a:ext cx="6248604" cy="337913"/>
          </a:xfrm>
          <a:prstGeom prst="rect">
            <a:avLst/>
          </a:prstGeom>
        </p:spPr>
        <p:txBody>
          <a:bodyPr vert="horz" wrap="square" lIns="0" tIns="14605" rIns="0" bIns="0" rtlCol="0">
            <a:spAutoFit/>
          </a:bodyPr>
          <a:lstStyle/>
          <a:p>
            <a:pPr marL="402590" indent="-389890">
              <a:lnSpc>
                <a:spcPct val="100000"/>
              </a:lnSpc>
              <a:spcBef>
                <a:spcPts val="115"/>
              </a:spcBef>
              <a:buFont typeface="Microsoft Sans Serif"/>
              <a:buChar char="●"/>
              <a:tabLst>
                <a:tab pos="402590" algn="l"/>
              </a:tabLst>
            </a:pPr>
            <a:r>
              <a:rPr sz="2100" b="1" dirty="0">
                <a:latin typeface="Arial"/>
                <a:cs typeface="Arial"/>
              </a:rPr>
              <a:t>Name</a:t>
            </a:r>
            <a:r>
              <a:rPr sz="2100" b="1" spc="-60" dirty="0">
                <a:latin typeface="Arial"/>
                <a:cs typeface="Arial"/>
              </a:rPr>
              <a:t> </a:t>
            </a:r>
            <a:r>
              <a:rPr sz="2100" b="1" dirty="0">
                <a:latin typeface="Arial"/>
                <a:cs typeface="Arial"/>
              </a:rPr>
              <a:t>of</a:t>
            </a:r>
            <a:r>
              <a:rPr sz="2100" b="1" spc="-20" dirty="0">
                <a:latin typeface="Arial"/>
                <a:cs typeface="Arial"/>
              </a:rPr>
              <a:t> </a:t>
            </a:r>
            <a:r>
              <a:rPr sz="2100" b="1" dirty="0">
                <a:latin typeface="Arial"/>
                <a:cs typeface="Arial"/>
              </a:rPr>
              <a:t>Supervisor</a:t>
            </a:r>
            <a:r>
              <a:rPr sz="2100" b="1" spc="-30" dirty="0">
                <a:latin typeface="Arial"/>
                <a:cs typeface="Arial"/>
              </a:rPr>
              <a:t> </a:t>
            </a:r>
            <a:r>
              <a:rPr sz="2100" b="1" spc="-50" dirty="0">
                <a:latin typeface="Arial"/>
                <a:cs typeface="Arial"/>
              </a:rPr>
              <a:t>–</a:t>
            </a:r>
            <a:r>
              <a:rPr lang="en-US" sz="2100" b="1" spc="-50" dirty="0">
                <a:latin typeface="Arial"/>
                <a:cs typeface="Arial"/>
              </a:rPr>
              <a:t> Prof. Pranita Chavan</a:t>
            </a:r>
            <a:endParaRPr sz="2100" dirty="0">
              <a:latin typeface="Arial"/>
              <a:cs typeface="Arial"/>
            </a:endParaRPr>
          </a:p>
        </p:txBody>
      </p:sp>
      <p:sp>
        <p:nvSpPr>
          <p:cNvPr id="8" name="TextBox 7">
            <a:extLst>
              <a:ext uri="{FF2B5EF4-FFF2-40B4-BE49-F238E27FC236}">
                <a16:creationId xmlns:a16="http://schemas.microsoft.com/office/drawing/2014/main" id="{4DA6539C-6732-8A9A-A495-0CC734B8D644}"/>
              </a:ext>
            </a:extLst>
          </p:cNvPr>
          <p:cNvSpPr txBox="1"/>
          <p:nvPr/>
        </p:nvSpPr>
        <p:spPr>
          <a:xfrm>
            <a:off x="856430" y="2163615"/>
            <a:ext cx="9970544" cy="1200329"/>
          </a:xfrm>
          <a:prstGeom prst="rect">
            <a:avLst/>
          </a:prstGeom>
          <a:noFill/>
        </p:spPr>
        <p:txBody>
          <a:bodyPr wrap="square" rtlCol="0">
            <a:spAutoFit/>
          </a:bodyPr>
          <a:lstStyle/>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Group No – 16</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Project Title – Blockchain Based NGO Donation Tracker</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Group Members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984750" y="29717"/>
            <a:ext cx="1840864" cy="566822"/>
          </a:xfrm>
          <a:prstGeom prst="rect">
            <a:avLst/>
          </a:prstGeom>
        </p:spPr>
        <p:txBody>
          <a:bodyPr vert="horz" wrap="square" lIns="0" tIns="12700" rIns="0" bIns="0" rtlCol="0">
            <a:spAutoFit/>
          </a:bodyPr>
          <a:lstStyle/>
          <a:p>
            <a:pPr marL="12700">
              <a:lnSpc>
                <a:spcPct val="100000"/>
              </a:lnSpc>
              <a:spcBef>
                <a:spcPts val="100"/>
              </a:spcBef>
            </a:pPr>
            <a:r>
              <a:rPr lang="en-US" spc="-484" dirty="0">
                <a:latin typeface="Times New Roman" panose="02020603050405020304" pitchFamily="18" charset="0"/>
                <a:cs typeface="Times New Roman" panose="02020603050405020304" pitchFamily="18" charset="0"/>
              </a:rPr>
              <a:t>C o n t e n t</a:t>
            </a:r>
            <a:endParaRPr spc="-484" dirty="0">
              <a:latin typeface="Times New Roman" panose="02020603050405020304" pitchFamily="18" charset="0"/>
              <a:cs typeface="Times New Roman" panose="02020603050405020304" pitchFamily="18" charset="0"/>
            </a:endParaRPr>
          </a:p>
        </p:txBody>
      </p:sp>
      <p:sp>
        <p:nvSpPr>
          <p:cNvPr id="3" name="object 3"/>
          <p:cNvSpPr txBox="1"/>
          <p:nvPr/>
        </p:nvSpPr>
        <p:spPr>
          <a:xfrm>
            <a:off x="457200" y="710311"/>
            <a:ext cx="8889619" cy="5768887"/>
          </a:xfrm>
          <a:prstGeom prst="rect">
            <a:avLst/>
          </a:prstGeom>
        </p:spPr>
        <p:txBody>
          <a:bodyPr vert="horz" wrap="square" lIns="0" tIns="13335" rIns="0" bIns="0" rtlCol="0">
            <a:spAutoFit/>
          </a:bodyPr>
          <a:lstStyle/>
          <a:p>
            <a:pPr marL="357505" indent="-344805">
              <a:lnSpc>
                <a:spcPct val="100000"/>
              </a:lnSpc>
              <a:spcBef>
                <a:spcPts val="105"/>
              </a:spcBef>
              <a:buAutoNum type="arabicPeriod"/>
              <a:tabLst>
                <a:tab pos="357505" algn="l"/>
              </a:tabLst>
            </a:pPr>
            <a:r>
              <a:rPr lang="en-US" sz="2800" dirty="0">
                <a:latin typeface="Times New Roman" panose="02020603050405020304" pitchFamily="18" charset="0"/>
                <a:cs typeface="Times New Roman" panose="02020603050405020304" pitchFamily="18" charset="0"/>
              </a:rPr>
              <a:t>Introduction</a:t>
            </a:r>
          </a:p>
          <a:p>
            <a:pPr marL="357505" indent="-344805">
              <a:lnSpc>
                <a:spcPct val="100000"/>
              </a:lnSpc>
              <a:spcBef>
                <a:spcPts val="105"/>
              </a:spcBef>
              <a:buAutoNum type="arabicPeriod"/>
              <a:tabLst>
                <a:tab pos="357505" algn="l"/>
              </a:tabLst>
            </a:pPr>
            <a:r>
              <a:rPr lang="en-US" sz="2800" dirty="0">
                <a:latin typeface="Times New Roman" panose="02020603050405020304" pitchFamily="18" charset="0"/>
                <a:cs typeface="Times New Roman" panose="02020603050405020304" pitchFamily="18" charset="0"/>
              </a:rPr>
              <a:t>Literature Survey/Existing System</a:t>
            </a:r>
          </a:p>
          <a:p>
            <a:pPr marL="357505" indent="-344805">
              <a:lnSpc>
                <a:spcPct val="100000"/>
              </a:lnSpc>
              <a:spcBef>
                <a:spcPts val="105"/>
              </a:spcBef>
              <a:buAutoNum type="arabicPeriod"/>
              <a:tabLst>
                <a:tab pos="357505" algn="l"/>
              </a:tabLst>
            </a:pPr>
            <a:r>
              <a:rPr lang="en-US" sz="2800" dirty="0">
                <a:latin typeface="Times New Roman" panose="02020603050405020304" pitchFamily="18" charset="0"/>
                <a:cs typeface="Times New Roman" panose="02020603050405020304" pitchFamily="18" charset="0"/>
              </a:rPr>
              <a:t>Limitation of Existing System or Research Gap</a:t>
            </a:r>
          </a:p>
          <a:p>
            <a:pPr marL="357505" indent="-344805">
              <a:lnSpc>
                <a:spcPct val="100000"/>
              </a:lnSpc>
              <a:spcBef>
                <a:spcPts val="105"/>
              </a:spcBef>
              <a:buAutoNum type="arabicPeriod"/>
              <a:tabLst>
                <a:tab pos="357505" algn="l"/>
              </a:tabLst>
            </a:pPr>
            <a:r>
              <a:rPr lang="en-US" sz="2800" dirty="0">
                <a:latin typeface="Times New Roman" panose="02020603050405020304" pitchFamily="18" charset="0"/>
                <a:cs typeface="Times New Roman" panose="02020603050405020304" pitchFamily="18" charset="0"/>
              </a:rPr>
              <a:t>Problem Statement and Objective</a:t>
            </a:r>
          </a:p>
          <a:p>
            <a:pPr marL="357505" indent="-344805">
              <a:lnSpc>
                <a:spcPct val="100000"/>
              </a:lnSpc>
              <a:spcBef>
                <a:spcPts val="105"/>
              </a:spcBef>
              <a:buAutoNum type="arabicPeriod"/>
              <a:tabLst>
                <a:tab pos="357505" algn="l"/>
              </a:tabLst>
            </a:pPr>
            <a:r>
              <a:rPr lang="en-US" sz="2800" dirty="0">
                <a:latin typeface="Times New Roman" panose="02020603050405020304" pitchFamily="18" charset="0"/>
                <a:cs typeface="Times New Roman" panose="02020603050405020304" pitchFamily="18" charset="0"/>
              </a:rPr>
              <a:t>Proposed Solution</a:t>
            </a:r>
          </a:p>
          <a:p>
            <a:pPr marL="12700">
              <a:lnSpc>
                <a:spcPct val="100000"/>
              </a:lnSpc>
              <a:spcBef>
                <a:spcPts val="105"/>
              </a:spcBef>
              <a:tabLst>
                <a:tab pos="357505" algn="l"/>
              </a:tabLst>
            </a:pPr>
            <a:r>
              <a:rPr lang="en-US" sz="2800" dirty="0">
                <a:latin typeface="Times New Roman" panose="02020603050405020304" pitchFamily="18" charset="0"/>
                <a:cs typeface="Times New Roman" panose="02020603050405020304" pitchFamily="18" charset="0"/>
              </a:rPr>
              <a:t>    5.1Analysis/Framework/Algorithm</a:t>
            </a:r>
          </a:p>
          <a:p>
            <a:pPr marL="12700">
              <a:lnSpc>
                <a:spcPct val="100000"/>
              </a:lnSpc>
              <a:spcBef>
                <a:spcPts val="105"/>
              </a:spcBef>
              <a:tabLst>
                <a:tab pos="357505" algn="l"/>
              </a:tabLst>
            </a:pPr>
            <a:r>
              <a:rPr lang="en-US" sz="2800" dirty="0">
                <a:latin typeface="Times New Roman" panose="02020603050405020304" pitchFamily="18" charset="0"/>
                <a:cs typeface="Times New Roman" panose="02020603050405020304" pitchFamily="18" charset="0"/>
              </a:rPr>
              <a:t>    5.2Design Details</a:t>
            </a:r>
          </a:p>
          <a:p>
            <a:pPr marL="12700">
              <a:lnSpc>
                <a:spcPct val="100000"/>
              </a:lnSpc>
              <a:spcBef>
                <a:spcPts val="105"/>
              </a:spcBef>
              <a:tabLst>
                <a:tab pos="357505" algn="l"/>
              </a:tabLst>
            </a:pPr>
            <a:r>
              <a:rPr lang="en-US" sz="2800" dirty="0">
                <a:latin typeface="Times New Roman" panose="02020603050405020304" pitchFamily="18" charset="0"/>
                <a:cs typeface="Times New Roman" panose="02020603050405020304" pitchFamily="18" charset="0"/>
              </a:rPr>
              <a:t>    5.3Methodology Proposed </a:t>
            </a:r>
          </a:p>
          <a:p>
            <a:pPr marL="12700">
              <a:lnSpc>
                <a:spcPct val="100000"/>
              </a:lnSpc>
              <a:spcBef>
                <a:spcPts val="105"/>
              </a:spcBef>
              <a:tabLst>
                <a:tab pos="357505" algn="l"/>
              </a:tabLst>
            </a:pPr>
            <a:r>
              <a:rPr lang="en-US" sz="2800" dirty="0">
                <a:latin typeface="Times New Roman" panose="02020603050405020304" pitchFamily="18" charset="0"/>
                <a:cs typeface="Times New Roman" panose="02020603050405020304" pitchFamily="18" charset="0"/>
              </a:rPr>
              <a:t>6.Technology used </a:t>
            </a:r>
          </a:p>
          <a:p>
            <a:pPr marL="12700">
              <a:lnSpc>
                <a:spcPct val="100000"/>
              </a:lnSpc>
              <a:spcBef>
                <a:spcPts val="105"/>
              </a:spcBef>
              <a:tabLst>
                <a:tab pos="357505" algn="l"/>
              </a:tabLst>
            </a:pPr>
            <a:r>
              <a:rPr lang="en-US" sz="2800" dirty="0">
                <a:latin typeface="Times New Roman" panose="02020603050405020304" pitchFamily="18" charset="0"/>
                <a:cs typeface="Times New Roman" panose="02020603050405020304" pitchFamily="18" charset="0"/>
              </a:rPr>
              <a:t>   6.1Details of Database or details about input to systems</a:t>
            </a:r>
          </a:p>
          <a:p>
            <a:pPr marL="12700">
              <a:lnSpc>
                <a:spcPct val="100000"/>
              </a:lnSpc>
              <a:spcBef>
                <a:spcPts val="105"/>
              </a:spcBef>
              <a:tabLst>
                <a:tab pos="357505" algn="l"/>
              </a:tabLst>
            </a:pPr>
            <a:r>
              <a:rPr lang="en-US" sz="2800" dirty="0">
                <a:latin typeface="Times New Roman" panose="02020603050405020304" pitchFamily="18" charset="0"/>
                <a:cs typeface="Times New Roman" panose="02020603050405020304" pitchFamily="18" charset="0"/>
              </a:rPr>
              <a:t>   6.2Performance Evaluation Parameters (for Validation)</a:t>
            </a:r>
          </a:p>
          <a:p>
            <a:pPr marL="12700">
              <a:lnSpc>
                <a:spcPct val="100000"/>
              </a:lnSpc>
              <a:spcBef>
                <a:spcPts val="105"/>
              </a:spcBef>
              <a:tabLst>
                <a:tab pos="357505" algn="l"/>
              </a:tabLst>
            </a:pPr>
            <a:r>
              <a:rPr lang="en-US" sz="2800" dirty="0">
                <a:latin typeface="Times New Roman" panose="02020603050405020304" pitchFamily="18" charset="0"/>
                <a:cs typeface="Times New Roman" panose="02020603050405020304" pitchFamily="18" charset="0"/>
              </a:rPr>
              <a:t>   6.3Software and Hardware Requirement</a:t>
            </a:r>
          </a:p>
          <a:p>
            <a:pPr marL="12700">
              <a:lnSpc>
                <a:spcPct val="100000"/>
              </a:lnSpc>
              <a:spcBef>
                <a:spcPts val="105"/>
              </a:spcBef>
              <a:tabLst>
                <a:tab pos="357505" algn="l"/>
              </a:tabLst>
            </a:pPr>
            <a:r>
              <a:rPr lang="en-US" sz="2800" dirty="0">
                <a:latin typeface="Times New Roman" panose="02020603050405020304" pitchFamily="18" charset="0"/>
                <a:cs typeface="Times New Roman" panose="02020603050405020304" pitchFamily="18" charset="0"/>
              </a:rPr>
              <a:t>7.Refrences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object 10"/>
          <p:cNvPicPr/>
          <p:nvPr/>
        </p:nvPicPr>
        <p:blipFill>
          <a:blip r:embed="rId2" cstate="print"/>
          <a:stretch>
            <a:fillRect/>
          </a:stretch>
        </p:blipFill>
        <p:spPr>
          <a:xfrm>
            <a:off x="0" y="0"/>
            <a:ext cx="990600" cy="819912"/>
          </a:xfrm>
          <a:prstGeom prst="rect">
            <a:avLst/>
          </a:prstGeom>
        </p:spPr>
      </p:pic>
      <p:pic>
        <p:nvPicPr>
          <p:cNvPr id="8" name="object 8"/>
          <p:cNvPicPr/>
          <p:nvPr/>
        </p:nvPicPr>
        <p:blipFill>
          <a:blip r:embed="rId3" cstate="print"/>
          <a:stretch>
            <a:fillRect/>
          </a:stretch>
        </p:blipFill>
        <p:spPr>
          <a:xfrm>
            <a:off x="10972800" y="0"/>
            <a:ext cx="984503" cy="950976"/>
          </a:xfrm>
          <a:prstGeom prst="rect">
            <a:avLst/>
          </a:prstGeom>
        </p:spPr>
      </p:pic>
      <p:grpSp>
        <p:nvGrpSpPr>
          <p:cNvPr id="3" name="object 3"/>
          <p:cNvGrpSpPr/>
          <p:nvPr/>
        </p:nvGrpSpPr>
        <p:grpSpPr>
          <a:xfrm>
            <a:off x="0" y="6571917"/>
            <a:ext cx="12192000" cy="286589"/>
            <a:chOff x="0" y="6693406"/>
            <a:chExt cx="12192000" cy="165100"/>
          </a:xfrm>
        </p:grpSpPr>
        <p:pic>
          <p:nvPicPr>
            <p:cNvPr id="4" name="object 4"/>
            <p:cNvPicPr/>
            <p:nvPr/>
          </p:nvPicPr>
          <p:blipFill>
            <a:blip r:embed="rId4" cstate="print"/>
            <a:stretch>
              <a:fillRect/>
            </a:stretch>
          </p:blipFill>
          <p:spPr>
            <a:xfrm>
              <a:off x="0" y="6714742"/>
              <a:ext cx="12192000" cy="143256"/>
            </a:xfrm>
            <a:prstGeom prst="rect">
              <a:avLst/>
            </a:prstGeom>
          </p:spPr>
        </p:pic>
        <p:sp>
          <p:nvSpPr>
            <p:cNvPr id="5" name="object 5"/>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11" name="object 11"/>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12" name="object 12"/>
          <p:cNvSpPr txBox="1"/>
          <p:nvPr/>
        </p:nvSpPr>
        <p:spPr>
          <a:xfrm>
            <a:off x="11734800" y="6646276"/>
            <a:ext cx="95885" cy="173766"/>
          </a:xfrm>
          <a:prstGeom prst="rect">
            <a:avLst/>
          </a:prstGeom>
        </p:spPr>
        <p:txBody>
          <a:bodyPr vert="horz" wrap="square" lIns="0" tIns="4445" rIns="0" bIns="0" rtlCol="0">
            <a:spAutoFit/>
          </a:bodyPr>
          <a:lstStyle/>
          <a:p>
            <a:pPr marL="12700">
              <a:lnSpc>
                <a:spcPct val="100000"/>
              </a:lnSpc>
              <a:spcBef>
                <a:spcPts val="35"/>
              </a:spcBef>
            </a:pPr>
            <a:r>
              <a:rPr sz="1100" b="1" spc="-50" dirty="0">
                <a:solidFill>
                  <a:srgbClr val="FFFFFF"/>
                </a:solidFill>
                <a:latin typeface="Trebuchet MS"/>
                <a:cs typeface="Trebuchet MS"/>
              </a:rPr>
              <a:t>2</a:t>
            </a:r>
            <a:endParaRPr sz="1100" dirty="0">
              <a:latin typeface="Trebuchet MS"/>
              <a:cs typeface="Trebuchet MS"/>
            </a:endParaRPr>
          </a:p>
        </p:txBody>
      </p:sp>
      <p:sp>
        <p:nvSpPr>
          <p:cNvPr id="13" name="TextBox 12">
            <a:extLst>
              <a:ext uri="{FF2B5EF4-FFF2-40B4-BE49-F238E27FC236}">
                <a16:creationId xmlns:a16="http://schemas.microsoft.com/office/drawing/2014/main" id="{A75073DF-2657-9F9D-95CA-BEBE9B2FC7A4}"/>
              </a:ext>
            </a:extLst>
          </p:cNvPr>
          <p:cNvSpPr txBox="1"/>
          <p:nvPr/>
        </p:nvSpPr>
        <p:spPr>
          <a:xfrm>
            <a:off x="3581400" y="101995"/>
            <a:ext cx="51054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INTRODUCTION</a:t>
            </a:r>
          </a:p>
        </p:txBody>
      </p:sp>
      <p:sp>
        <p:nvSpPr>
          <p:cNvPr id="14" name="TextBox 13">
            <a:extLst>
              <a:ext uri="{FF2B5EF4-FFF2-40B4-BE49-F238E27FC236}">
                <a16:creationId xmlns:a16="http://schemas.microsoft.com/office/drawing/2014/main" id="{DEC81771-D23D-E82F-3800-D4A50297CDC5}"/>
              </a:ext>
            </a:extLst>
          </p:cNvPr>
          <p:cNvSpPr txBox="1"/>
          <p:nvPr/>
        </p:nvSpPr>
        <p:spPr>
          <a:xfrm>
            <a:off x="533400" y="1291280"/>
            <a:ext cx="11297285" cy="4647426"/>
          </a:xfrm>
          <a:prstGeom prst="rect">
            <a:avLst/>
          </a:prstGeom>
          <a:noFill/>
        </p:spPr>
        <p:txBody>
          <a:bodyPr wrap="square" rtlCol="0">
            <a:spAutoFit/>
          </a:bodyPr>
          <a:lstStyle/>
          <a:p>
            <a:pPr algn="just" rtl="0"/>
            <a:r>
              <a:rPr lang="en-US" sz="2800" dirty="0">
                <a:latin typeface="Times New Roman" panose="02020603050405020304" pitchFamily="18" charset="0"/>
                <a:cs typeface="Times New Roman" panose="02020603050405020304" pitchFamily="18" charset="0"/>
              </a:rPr>
              <a:t>         When people donate money to an NGO, they often don't know how it was used. They cannot easily see what work was completed, who checked it, or how much money is still unused. This lack of visibility creates a trust problem in charitable giving.</a:t>
            </a:r>
          </a:p>
          <a:p>
            <a:pPr algn="just" rtl="0"/>
            <a:r>
              <a:rPr lang="en-US" sz="2800" dirty="0">
                <a:latin typeface="Times New Roman" panose="02020603050405020304" pitchFamily="18" charset="0"/>
                <a:cs typeface="Times New Roman" panose="02020603050405020304" pitchFamily="18" charset="0"/>
              </a:rPr>
              <a:t>         This project is a working prototype (demo only) of a donation tracking system that tackles this by dividing a project into milestones, each with its own amount of funding. No real money, wallet or blockchain transaction is involved; contributions and releases are simulated.                   </a:t>
            </a:r>
          </a:p>
          <a:p>
            <a:pPr algn="just" rtl="0"/>
            <a:r>
              <a:rPr lang="en-US" sz="2800" dirty="0">
                <a:latin typeface="Times New Roman" panose="02020603050405020304" pitchFamily="18" charset="0"/>
                <a:cs typeface="Times New Roman" panose="02020603050405020304" pitchFamily="18" charset="0"/>
              </a:rPr>
              <a:t>         The NGO submits proof of completed work, independent verifiers review it, and the demo records a milestone's funds as released only after two of three distinct verifiers approve. An activity ledger, stored in the browser, records every step, so donors can follow where their money goes.</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0" y="0"/>
            <a:ext cx="990600" cy="819912"/>
          </a:xfrm>
          <a:prstGeom prst="rect">
            <a:avLst/>
          </a:prstGeom>
        </p:spPr>
      </p:pic>
      <p:pic>
        <p:nvPicPr>
          <p:cNvPr id="7" name="object 7"/>
          <p:cNvPicPr/>
          <p:nvPr/>
        </p:nvPicPr>
        <p:blipFill>
          <a:blip r:embed="rId3" cstate="print"/>
          <a:stretch>
            <a:fillRect/>
          </a:stretch>
        </p:blipFill>
        <p:spPr>
          <a:xfrm>
            <a:off x="10972800" y="0"/>
            <a:ext cx="984503" cy="950976"/>
          </a:xfrm>
          <a:prstGeom prst="rect">
            <a:avLst/>
          </a:prstGeom>
        </p:spPr>
      </p:pic>
      <p:grpSp>
        <p:nvGrpSpPr>
          <p:cNvPr id="2" name="object 2"/>
          <p:cNvGrpSpPr/>
          <p:nvPr/>
        </p:nvGrpSpPr>
        <p:grpSpPr>
          <a:xfrm>
            <a:off x="0" y="6571917"/>
            <a:ext cx="12192000" cy="286589"/>
            <a:chOff x="0" y="6693406"/>
            <a:chExt cx="12192000" cy="165100"/>
          </a:xfrm>
        </p:grpSpPr>
        <p:pic>
          <p:nvPicPr>
            <p:cNvPr id="3" name="object 3"/>
            <p:cNvPicPr/>
            <p:nvPr/>
          </p:nvPicPr>
          <p:blipFill>
            <a:blip r:embed="rId4" cstate="print"/>
            <a:stretch>
              <a:fillRect/>
            </a:stretch>
          </p:blipFill>
          <p:spPr>
            <a:xfrm>
              <a:off x="0" y="6714742"/>
              <a:ext cx="12192000" cy="143256"/>
            </a:xfrm>
            <a:prstGeom prst="rect">
              <a:avLst/>
            </a:prstGeom>
          </p:spPr>
        </p:pic>
        <p:sp>
          <p:nvSpPr>
            <p:cNvPr id="4" name="object 4"/>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p:cNvSpPr txBox="1"/>
          <p:nvPr/>
        </p:nvSpPr>
        <p:spPr>
          <a:xfrm>
            <a:off x="11849353" y="6646276"/>
            <a:ext cx="107950"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3</a:t>
            </a:r>
            <a:endParaRPr sz="1100" dirty="0">
              <a:latin typeface="Trebuchet MS"/>
              <a:cs typeface="Trebuchet MS"/>
            </a:endParaRPr>
          </a:p>
        </p:txBody>
      </p:sp>
      <p:sp>
        <p:nvSpPr>
          <p:cNvPr id="10" name="TextBox 9">
            <a:extLst>
              <a:ext uri="{FF2B5EF4-FFF2-40B4-BE49-F238E27FC236}">
                <a16:creationId xmlns:a16="http://schemas.microsoft.com/office/drawing/2014/main" id="{85343A1A-53D2-6A65-4DEA-EECE8808527E}"/>
              </a:ext>
            </a:extLst>
          </p:cNvPr>
          <p:cNvSpPr txBox="1"/>
          <p:nvPr/>
        </p:nvSpPr>
        <p:spPr>
          <a:xfrm>
            <a:off x="2247900" y="76200"/>
            <a:ext cx="7696200" cy="1138773"/>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Literature Survey/Existing System</a:t>
            </a:r>
          </a:p>
          <a:p>
            <a:pPr algn="ctr"/>
            <a:endParaRPr lang="en-US" sz="3200" dirty="0"/>
          </a:p>
        </p:txBody>
      </p:sp>
      <p:graphicFrame>
        <p:nvGraphicFramePr>
          <p:cNvPr id="11" name="Table 10">
            <a:extLst>
              <a:ext uri="{FF2B5EF4-FFF2-40B4-BE49-F238E27FC236}">
                <a16:creationId xmlns:a16="http://schemas.microsoft.com/office/drawing/2014/main" id="{73C13AC5-2FCD-6DD4-C644-57DD8521FE63}"/>
              </a:ext>
            </a:extLst>
          </p:cNvPr>
          <p:cNvGraphicFramePr>
            <a:graphicFrameLocks noGrp="1"/>
          </p:cNvGraphicFramePr>
          <p:nvPr>
            <p:extLst>
              <p:ext uri="{D42A27DB-BD31-4B8C-83A1-F6EECF244321}">
                <p14:modId xmlns:p14="http://schemas.microsoft.com/office/powerpoint/2010/main" val="85267475"/>
              </p:ext>
            </p:extLst>
          </p:nvPr>
        </p:nvGraphicFramePr>
        <p:xfrm>
          <a:off x="483010" y="1055184"/>
          <a:ext cx="11087100" cy="5097780"/>
        </p:xfrm>
        <a:graphic>
          <a:graphicData uri="http://schemas.openxmlformats.org/drawingml/2006/table">
            <a:tbl>
              <a:tblPr firstRow="1" bandRow="1"/>
              <a:tblGrid>
                <a:gridCol w="5543550">
                  <a:extLst>
                    <a:ext uri="{9D8B030D-6E8A-4147-A177-3AD203B41FA5}">
                      <a16:colId xmlns:a16="http://schemas.microsoft.com/office/drawing/2014/main" val="441674457"/>
                    </a:ext>
                  </a:extLst>
                </a:gridCol>
                <a:gridCol w="5543550">
                  <a:extLst>
                    <a:ext uri="{9D8B030D-6E8A-4147-A177-3AD203B41FA5}">
                      <a16:colId xmlns:a16="http://schemas.microsoft.com/office/drawing/2014/main" val="4064477950"/>
                    </a:ext>
                  </a:extLst>
                </a:gridCol>
              </a:tblGrid>
              <a:tr h="764540">
                <a:tc>
                  <a:txBody>
                    <a:bodyPr/>
                    <a:lstStyle/>
                    <a:p>
                      <a:pPr algn="ctr"/>
                      <a:r>
                        <a:rPr lang="en-US" sz="2800" b="1" dirty="0">
                          <a:latin typeface="Times New Roman" panose="02020603050405020304" pitchFamily="18" charset="0"/>
                          <a:cs typeface="Times New Roman" panose="02020603050405020304" pitchFamily="18" charset="0"/>
                        </a:rPr>
                        <a:t>Literature Survey</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800" b="1" dirty="0">
                          <a:latin typeface="Times New Roman" panose="02020603050405020304" pitchFamily="18" charset="0"/>
                          <a:cs typeface="Times New Roman" panose="02020603050405020304" pitchFamily="18" charset="0"/>
                        </a:rPr>
                        <a:t>Existing System</a:t>
                      </a:r>
                    </a:p>
                    <a:p>
                      <a:endParaRPr lang="en-US" dirty="0"/>
                    </a:p>
                  </a:txBody>
                  <a:tcPr/>
                </a:tc>
                <a:extLst>
                  <a:ext uri="{0D108BD9-81ED-4DB2-BD59-A6C34878D82A}">
                    <a16:rowId xmlns:a16="http://schemas.microsoft.com/office/drawing/2014/main" val="3557580838"/>
                  </a:ext>
                </a:extLst>
              </a:tr>
              <a:tr h="764540">
                <a:tc>
                  <a:txBody>
                    <a:bodyPr/>
                    <a:lstStyle/>
                    <a:p>
                      <a:pPr algn="just"/>
                      <a:r>
                        <a:rPr lang="en-US" sz="2000" dirty="0">
                          <a:latin typeface="Times New Roman" panose="02020603050405020304" pitchFamily="18" charset="0"/>
                          <a:cs typeface="Times New Roman" panose="02020603050405020304" pitchFamily="18" charset="0"/>
                        </a:rPr>
                        <a:t>Earlier research proposed blockchain platforms to track donations, mostly on Ethereum with smart contracts.</a:t>
                      </a:r>
                    </a:p>
                  </a:txBody>
                  <a:tcPr/>
                </a:tc>
                <a:tc>
                  <a:txBody>
                    <a:bodyPr/>
                    <a:lstStyle/>
                    <a:p>
                      <a:pPr algn="just"/>
                      <a:r>
                        <a:rPr lang="en-US" sz="2000" dirty="0">
                          <a:latin typeface="Times New Roman" panose="02020603050405020304" pitchFamily="18" charset="0"/>
                          <a:cs typeface="Times New Roman" panose="02020603050405020304" pitchFamily="18" charset="0"/>
                        </a:rPr>
                        <a:t>A donor gives money to an NGO on a general promise that the project will be completed.</a:t>
                      </a:r>
                    </a:p>
                  </a:txBody>
                  <a:tcPr/>
                </a:tc>
                <a:extLst>
                  <a:ext uri="{0D108BD9-81ED-4DB2-BD59-A6C34878D82A}">
                    <a16:rowId xmlns:a16="http://schemas.microsoft.com/office/drawing/2014/main" val="332495419"/>
                  </a:ext>
                </a:extLst>
              </a:tr>
              <a:tr h="764540">
                <a:tc>
                  <a:txBody>
                    <a:bodyPr/>
                    <a:lstStyle/>
                    <a:p>
                      <a:pPr algn="just"/>
                      <a:r>
                        <a:rPr lang="en-US" sz="2000" dirty="0">
                          <a:latin typeface="Times New Roman" panose="02020603050405020304" pitchFamily="18" charset="0"/>
                          <a:cs typeface="Times New Roman" panose="02020603050405020304" pitchFamily="18" charset="0"/>
                        </a:rPr>
                        <a:t>Surveys found that blockchain gives immutable and verifiable donation records.</a:t>
                      </a:r>
                    </a:p>
                  </a:txBody>
                  <a:tcPr/>
                </a:tc>
                <a:tc>
                  <a:txBody>
                    <a:bodyPr/>
                    <a:lstStyle/>
                    <a:p>
                      <a:pPr algn="just"/>
                      <a:r>
                        <a:rPr lang="en-US" sz="2000" dirty="0">
                          <a:latin typeface="Times New Roman" panose="02020603050405020304" pitchFamily="18" charset="0"/>
                          <a:cs typeface="Times New Roman" panose="02020603050405020304" pitchFamily="18" charset="0"/>
                        </a:rPr>
                        <a:t>Donors have limited visibility into what work was done and how funds were used.</a:t>
                      </a:r>
                    </a:p>
                  </a:txBody>
                  <a:tcPr/>
                </a:tc>
                <a:extLst>
                  <a:ext uri="{0D108BD9-81ED-4DB2-BD59-A6C34878D82A}">
                    <a16:rowId xmlns:a16="http://schemas.microsoft.com/office/drawing/2014/main" val="3939131221"/>
                  </a:ext>
                </a:extLst>
              </a:tr>
              <a:tr h="764540">
                <a:tc>
                  <a:txBody>
                    <a:bodyPr/>
                    <a:lstStyle/>
                    <a:p>
                      <a:r>
                        <a:rPr lang="en-US" sz="2000" dirty="0">
                          <a:latin typeface="Times New Roman" panose="02020603050405020304" pitchFamily="18" charset="0"/>
                          <a:cs typeface="Times New Roman" panose="02020603050405020304" pitchFamily="18" charset="0"/>
                        </a:rPr>
                        <a:t>Studies found that lack of transparency in charity reduces people's willingness to donate.</a:t>
                      </a:r>
                    </a:p>
                  </a:txBody>
                  <a:tcPr/>
                </a:tc>
                <a:tc>
                  <a:txBody>
                    <a:bodyPr/>
                    <a:lstStyle/>
                    <a:p>
                      <a:r>
                        <a:rPr lang="en-US" sz="2000" dirty="0">
                          <a:latin typeface="Times New Roman" panose="02020603050405020304" pitchFamily="18" charset="0"/>
                          <a:cs typeface="Times New Roman" panose="02020603050405020304" pitchFamily="18" charset="0"/>
                        </a:rPr>
                        <a:t>No independent review is linked to the release of funds.</a:t>
                      </a:r>
                    </a:p>
                  </a:txBody>
                  <a:tcPr/>
                </a:tc>
                <a:extLst>
                  <a:ext uri="{0D108BD9-81ED-4DB2-BD59-A6C34878D82A}">
                    <a16:rowId xmlns:a16="http://schemas.microsoft.com/office/drawing/2014/main" val="3505832562"/>
                  </a:ext>
                </a:extLst>
              </a:tr>
              <a:tr h="764540">
                <a:tc>
                  <a:txBody>
                    <a:bodyPr/>
                    <a:lstStyle/>
                    <a:p>
                      <a:r>
                        <a:rPr lang="en-US" sz="2000" dirty="0">
                          <a:latin typeface="Times New Roman" panose="02020603050405020304" pitchFamily="18" charset="0"/>
                          <a:cs typeface="Times New Roman" panose="02020603050405020304" pitchFamily="18" charset="0"/>
                        </a:rPr>
                        <a:t>Recent work added smart contracts, escrow systems and </a:t>
                      </a:r>
                      <a:r>
                        <a:rPr lang="en-US" sz="2000" dirty="0" err="1">
                          <a:latin typeface="Times New Roman" panose="02020603050405020304" pitchFamily="18" charset="0"/>
                          <a:cs typeface="Times New Roman" panose="02020603050405020304" pitchFamily="18" charset="0"/>
                        </a:rPr>
                        <a:t>WebAPIs</a:t>
                      </a:r>
                      <a:r>
                        <a:rPr lang="en-US" sz="2000" dirty="0">
                          <a:latin typeface="Times New Roman" panose="02020603050405020304" pitchFamily="18" charset="0"/>
                          <a:cs typeface="Times New Roman" panose="02020603050405020304" pitchFamily="18" charset="0"/>
                        </a:rPr>
                        <a:t> to build secure, traceable donation tracking.</a:t>
                      </a:r>
                    </a:p>
                  </a:txBody>
                  <a:tcPr/>
                </a:tc>
                <a:tc>
                  <a:txBody>
                    <a:bodyPr/>
                    <a:lstStyle/>
                    <a:p>
                      <a:r>
                        <a:rPr lang="en-US" sz="2000" dirty="0">
                          <a:latin typeface="Times New Roman" panose="02020603050405020304" pitchFamily="18" charset="0"/>
                          <a:cs typeface="Times New Roman" panose="02020603050405020304" pitchFamily="18" charset="0"/>
                        </a:rPr>
                        <a:t>Donors cannot easily see how much money is released and how much is unused.</a:t>
                      </a:r>
                    </a:p>
                  </a:txBody>
                  <a:tcPr/>
                </a:tc>
                <a:extLst>
                  <a:ext uri="{0D108BD9-81ED-4DB2-BD59-A6C34878D82A}">
                    <a16:rowId xmlns:a16="http://schemas.microsoft.com/office/drawing/2014/main" val="1635071695"/>
                  </a:ext>
                </a:extLst>
              </a:tr>
              <a:tr h="764540">
                <a:tc>
                  <a:txBody>
                    <a:bodyPr/>
                    <a:lstStyle/>
                    <a:p>
                      <a:r>
                        <a:rPr lang="en-US" sz="2000" dirty="0">
                          <a:latin typeface="Times New Roman" panose="02020603050405020304" pitchFamily="18" charset="0"/>
                          <a:cs typeface="Times New Roman" panose="02020603050405020304" pitchFamily="18" charset="0"/>
                        </a:rPr>
                        <a:t>Most of these works focus mainly on tracking donations.</a:t>
                      </a:r>
                    </a:p>
                  </a:txBody>
                  <a:tcPr/>
                </a:tc>
                <a:tc>
                  <a:txBody>
                    <a:bodyPr/>
                    <a:lstStyle/>
                    <a:p>
                      <a:r>
                        <a:rPr lang="en-US" sz="2000" dirty="0">
                          <a:latin typeface="Times New Roman" panose="02020603050405020304" pitchFamily="18" charset="0"/>
                          <a:cs typeface="Times New Roman" panose="02020603050405020304" pitchFamily="18" charset="0"/>
                        </a:rPr>
                        <a:t>Trust depends on the NGO's word, not on checked evidence.</a:t>
                      </a:r>
                    </a:p>
                  </a:txBody>
                  <a:tcPr/>
                </a:tc>
                <a:extLst>
                  <a:ext uri="{0D108BD9-81ED-4DB2-BD59-A6C34878D82A}">
                    <a16:rowId xmlns:a16="http://schemas.microsoft.com/office/drawing/2014/main" val="76974256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1EDEF67-18CE-521D-6E91-5777906FF46D}"/>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E423BD3B-BE38-F480-F573-228D4B9CB114}"/>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E2F691BF-86D5-F9FA-A4E0-8DE854740DB5}"/>
              </a:ext>
            </a:extLst>
          </p:cNvPr>
          <p:cNvPicPr/>
          <p:nvPr/>
        </p:nvPicPr>
        <p:blipFill>
          <a:blip r:embed="rId3" cstate="print"/>
          <a:stretch>
            <a:fillRect/>
          </a:stretch>
        </p:blipFill>
        <p:spPr>
          <a:xfrm>
            <a:off x="10972800" y="0"/>
            <a:ext cx="984503" cy="950976"/>
          </a:xfrm>
          <a:prstGeom prst="rect">
            <a:avLst/>
          </a:prstGeom>
        </p:spPr>
      </p:pic>
      <p:grpSp>
        <p:nvGrpSpPr>
          <p:cNvPr id="2" name="object 2">
            <a:extLst>
              <a:ext uri="{FF2B5EF4-FFF2-40B4-BE49-F238E27FC236}">
                <a16:creationId xmlns:a16="http://schemas.microsoft.com/office/drawing/2014/main" id="{E0D205BC-D325-EA30-1E61-3B3527EE80A2}"/>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13880073-B6E1-EE93-72A8-2FAC4019142A}"/>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C98C6DE3-DDF1-DF38-A541-B8FBDEBEC1BF}"/>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45249D2C-FFCB-8AB6-E354-9B44DE63EDEB}"/>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BB88128B-9F37-B153-B67E-3A9B24FA3B51}"/>
              </a:ext>
            </a:extLst>
          </p:cNvPr>
          <p:cNvSpPr txBox="1"/>
          <p:nvPr/>
        </p:nvSpPr>
        <p:spPr>
          <a:xfrm>
            <a:off x="11849353" y="6646276"/>
            <a:ext cx="107950"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4</a:t>
            </a:r>
            <a:endParaRPr sz="1100" dirty="0">
              <a:latin typeface="Trebuchet MS"/>
              <a:cs typeface="Trebuchet MS"/>
            </a:endParaRPr>
          </a:p>
        </p:txBody>
      </p:sp>
      <p:sp>
        <p:nvSpPr>
          <p:cNvPr id="10" name="TextBox 9">
            <a:extLst>
              <a:ext uri="{FF2B5EF4-FFF2-40B4-BE49-F238E27FC236}">
                <a16:creationId xmlns:a16="http://schemas.microsoft.com/office/drawing/2014/main" id="{23D15B79-2F28-DC24-8103-AC40AB6109E9}"/>
              </a:ext>
            </a:extLst>
          </p:cNvPr>
          <p:cNvSpPr txBox="1"/>
          <p:nvPr/>
        </p:nvSpPr>
        <p:spPr>
          <a:xfrm>
            <a:off x="1241298" y="86790"/>
            <a:ext cx="9709403" cy="646331"/>
          </a:xfrm>
          <a:prstGeom prst="rect">
            <a:avLst/>
          </a:prstGeom>
          <a:noFill/>
        </p:spPr>
        <p:txBody>
          <a:bodyPr wrap="square" rtlCol="0">
            <a:spAutoFit/>
          </a:bodyPr>
          <a:lstStyle/>
          <a:p>
            <a:pPr marL="12700" algn="ctr">
              <a:lnSpc>
                <a:spcPct val="100000"/>
              </a:lnSpc>
              <a:spcBef>
                <a:spcPts val="105"/>
              </a:spcBef>
              <a:tabLst>
                <a:tab pos="357505" algn="l"/>
              </a:tabLst>
            </a:pPr>
            <a:r>
              <a:rPr lang="en-US" sz="3600" b="1" dirty="0">
                <a:latin typeface="Times New Roman" panose="02020603050405020304" pitchFamily="18" charset="0"/>
                <a:cs typeface="Times New Roman" panose="02020603050405020304" pitchFamily="18" charset="0"/>
              </a:rPr>
              <a:t>Limitation of Existing System or Research Gap</a:t>
            </a:r>
          </a:p>
        </p:txBody>
      </p:sp>
      <p:sp>
        <p:nvSpPr>
          <p:cNvPr id="5" name="TextBox 4">
            <a:extLst>
              <a:ext uri="{FF2B5EF4-FFF2-40B4-BE49-F238E27FC236}">
                <a16:creationId xmlns:a16="http://schemas.microsoft.com/office/drawing/2014/main" id="{BC866EE5-461B-8FDF-3852-5151734C9237}"/>
              </a:ext>
            </a:extLst>
          </p:cNvPr>
          <p:cNvSpPr txBox="1"/>
          <p:nvPr/>
        </p:nvSpPr>
        <p:spPr>
          <a:xfrm>
            <a:off x="293992" y="950976"/>
            <a:ext cx="11663311" cy="6001643"/>
          </a:xfrm>
          <a:prstGeom prst="rect">
            <a:avLst/>
          </a:prstGeom>
          <a:noFill/>
        </p:spPr>
        <p:txBody>
          <a:bodyPr wrap="square" rtlCol="0">
            <a:spAutoFit/>
          </a:bodyPr>
          <a:lstStyle/>
          <a:p>
            <a:pPr marL="342900" indent="-342900" rtl="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Limitations of the Existing System</a:t>
            </a: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In the traditional donation system, money is given on a general promise that a project will be completed. Donors have limited visibility into what work was actually done and how the funds were used. There is no clear proof of completed work linked to the money, and no independent person checks that work before funds are used. Donors also cannot easily see how much money has been released and how much is still unused. Because of this, trust depends only on the NGO's word.</a:t>
            </a:r>
          </a:p>
          <a:p>
            <a:pPr rtl="0"/>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Research Gap</a:t>
            </a: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Most of the earlier blockchain-based work I reviewed focuses on tracking donations: recording who gave money and keeping those records safe and unchangeable. But recording a donation does not show that the promised work was really completed. The gap is the missing link between the money and the work. There is a need for a system that divides a project into milestones, asks the NGO to submit evidence for each one, has independent verifiers review that evidence, and records funds as released only after enough of them approve. This project demonstrates that workflow as a blockchain-inspired prototype with simulated fund releases.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535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F7CC72-B923-BF69-2782-FC24B161A23D}"/>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1C479E3B-AE7D-5F3B-87E4-123D316F513B}"/>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F4D579DB-EA9A-5A12-FD3A-8F3183BCAB42}"/>
              </a:ext>
            </a:extLst>
          </p:cNvPr>
          <p:cNvPicPr/>
          <p:nvPr/>
        </p:nvPicPr>
        <p:blipFill>
          <a:blip r:embed="rId3" cstate="print"/>
          <a:stretch>
            <a:fillRect/>
          </a:stretch>
        </p:blipFill>
        <p:spPr>
          <a:xfrm>
            <a:off x="10972800" y="0"/>
            <a:ext cx="984503" cy="950976"/>
          </a:xfrm>
          <a:prstGeom prst="rect">
            <a:avLst/>
          </a:prstGeom>
        </p:spPr>
      </p:pic>
      <p:grpSp>
        <p:nvGrpSpPr>
          <p:cNvPr id="2" name="object 2">
            <a:extLst>
              <a:ext uri="{FF2B5EF4-FFF2-40B4-BE49-F238E27FC236}">
                <a16:creationId xmlns:a16="http://schemas.microsoft.com/office/drawing/2014/main" id="{F57CE58D-4BBD-F05C-1158-703B708D305D}"/>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9E8202F7-E87D-A6CC-87B8-5E0EFC83C283}"/>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CEF0310F-441A-7BF5-4889-E776A2B75A71}"/>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C0513E5F-23A9-7668-47D5-DF21C8A113DB}"/>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967A0968-4309-3CA3-60C7-3590F2AD6A76}"/>
              </a:ext>
            </a:extLst>
          </p:cNvPr>
          <p:cNvSpPr txBox="1"/>
          <p:nvPr/>
        </p:nvSpPr>
        <p:spPr>
          <a:xfrm>
            <a:off x="11849353" y="6646276"/>
            <a:ext cx="107950"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5</a:t>
            </a:r>
            <a:endParaRPr sz="1100" dirty="0">
              <a:latin typeface="Trebuchet MS"/>
              <a:cs typeface="Trebuchet MS"/>
            </a:endParaRPr>
          </a:p>
        </p:txBody>
      </p:sp>
      <p:sp>
        <p:nvSpPr>
          <p:cNvPr id="10" name="TextBox 9">
            <a:extLst>
              <a:ext uri="{FF2B5EF4-FFF2-40B4-BE49-F238E27FC236}">
                <a16:creationId xmlns:a16="http://schemas.microsoft.com/office/drawing/2014/main" id="{4A227A5E-CC7F-CE99-AB52-95AC1F925717}"/>
              </a:ext>
            </a:extLst>
          </p:cNvPr>
          <p:cNvSpPr txBox="1"/>
          <p:nvPr/>
        </p:nvSpPr>
        <p:spPr>
          <a:xfrm>
            <a:off x="1241298" y="86790"/>
            <a:ext cx="9709403" cy="646331"/>
          </a:xfrm>
          <a:prstGeom prst="rect">
            <a:avLst/>
          </a:prstGeom>
          <a:noFill/>
        </p:spPr>
        <p:txBody>
          <a:bodyPr wrap="square" rtlCol="0">
            <a:spAutoFit/>
          </a:bodyPr>
          <a:lstStyle/>
          <a:p>
            <a:pPr marL="12700" algn="ctr">
              <a:lnSpc>
                <a:spcPct val="100000"/>
              </a:lnSpc>
              <a:spcBef>
                <a:spcPts val="105"/>
              </a:spcBef>
              <a:tabLst>
                <a:tab pos="357505" algn="l"/>
              </a:tabLst>
            </a:pPr>
            <a:r>
              <a:rPr lang="en-US" sz="3600" b="1" dirty="0">
                <a:latin typeface="Times New Roman" panose="02020603050405020304" pitchFamily="18" charset="0"/>
                <a:cs typeface="Times New Roman" panose="02020603050405020304" pitchFamily="18" charset="0"/>
              </a:rPr>
              <a:t>Problem Statement and Objective</a:t>
            </a:r>
          </a:p>
        </p:txBody>
      </p:sp>
      <p:sp>
        <p:nvSpPr>
          <p:cNvPr id="11" name="TextBox 10">
            <a:extLst>
              <a:ext uri="{FF2B5EF4-FFF2-40B4-BE49-F238E27FC236}">
                <a16:creationId xmlns:a16="http://schemas.microsoft.com/office/drawing/2014/main" id="{CBA77F84-3B33-6DB9-6FF1-D0FB3FEEA1A1}"/>
              </a:ext>
            </a:extLst>
          </p:cNvPr>
          <p:cNvSpPr txBox="1"/>
          <p:nvPr/>
        </p:nvSpPr>
        <p:spPr>
          <a:xfrm>
            <a:off x="381000" y="856948"/>
            <a:ext cx="11576303" cy="6001643"/>
          </a:xfrm>
          <a:prstGeom prst="rect">
            <a:avLst/>
          </a:prstGeom>
          <a:noFill/>
        </p:spPr>
        <p:txBody>
          <a:bodyPr wrap="square" rtlCol="0">
            <a:spAutoFit/>
          </a:bodyPr>
          <a:lstStyle/>
          <a:p>
            <a:pPr marL="342900" indent="-342900" rtl="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Every day, people donate to NGOs with good intentions, but once the money is given, it disappears from view. Donors cannot see what work was completed, who checked it, or how much money is still unused. Funds are given on a promise, not on proof, so trust depends only on the NGO's word. What is missing is a way to connect a project's funds to real, verified work.</a:t>
            </a:r>
          </a:p>
          <a:p>
            <a:pPr rtl="0"/>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Objective</a:t>
            </a: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The objective of this project is to turn a promise into proof. It divides a project into funded milestones, so that funds are tied to specific stages of work. For each milestone, the NGO submits evidence of the completed work, and independent verifiers review it. In this demo, a simulated release is recorded only when two of three distinct verifiers approve; if two verifiers reject the evidence, the milestone needs revision and the funds stay locked until the NGO submits improved proof. Every contribution, evidence submission, vote and release is added to a ledger, so donors can follow the journey of their money.</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3399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491B7FA-227D-40E3-0BAF-6F70C09171D5}"/>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E23E17BC-BF2F-961D-4E44-4D05CF0B8A3D}"/>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F79B9127-14F6-FEE3-AD92-1982EAA74770}"/>
              </a:ext>
            </a:extLst>
          </p:cNvPr>
          <p:cNvPicPr/>
          <p:nvPr/>
        </p:nvPicPr>
        <p:blipFill>
          <a:blip r:embed="rId3" cstate="print"/>
          <a:stretch>
            <a:fillRect/>
          </a:stretch>
        </p:blipFill>
        <p:spPr>
          <a:xfrm>
            <a:off x="10972800" y="0"/>
            <a:ext cx="984503" cy="950976"/>
          </a:xfrm>
          <a:prstGeom prst="rect">
            <a:avLst/>
          </a:prstGeom>
        </p:spPr>
      </p:pic>
      <p:grpSp>
        <p:nvGrpSpPr>
          <p:cNvPr id="2" name="object 2">
            <a:extLst>
              <a:ext uri="{FF2B5EF4-FFF2-40B4-BE49-F238E27FC236}">
                <a16:creationId xmlns:a16="http://schemas.microsoft.com/office/drawing/2014/main" id="{E8296513-798C-D212-9D85-86166144D8EA}"/>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F5888C50-B825-8138-EAA6-E7FFB599CDC1}"/>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348DBD1E-1733-9E5A-52FC-390A1F22A1FF}"/>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3CFB21F9-2672-7612-9B36-7469A731BEFD}"/>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C53A54EC-2F6F-B32F-72B7-D029867A21EB}"/>
              </a:ext>
            </a:extLst>
          </p:cNvPr>
          <p:cNvSpPr txBox="1"/>
          <p:nvPr/>
        </p:nvSpPr>
        <p:spPr>
          <a:xfrm>
            <a:off x="11849353" y="6646276"/>
            <a:ext cx="107950"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6</a:t>
            </a:r>
            <a:endParaRPr sz="1100" dirty="0">
              <a:latin typeface="Trebuchet MS"/>
              <a:cs typeface="Trebuchet MS"/>
            </a:endParaRPr>
          </a:p>
        </p:txBody>
      </p:sp>
      <p:sp>
        <p:nvSpPr>
          <p:cNvPr id="10" name="TextBox 9">
            <a:extLst>
              <a:ext uri="{FF2B5EF4-FFF2-40B4-BE49-F238E27FC236}">
                <a16:creationId xmlns:a16="http://schemas.microsoft.com/office/drawing/2014/main" id="{2037846D-F55B-9D19-AD04-01A3B18738FB}"/>
              </a:ext>
            </a:extLst>
          </p:cNvPr>
          <p:cNvSpPr txBox="1"/>
          <p:nvPr/>
        </p:nvSpPr>
        <p:spPr>
          <a:xfrm>
            <a:off x="1241298" y="86790"/>
            <a:ext cx="9709403" cy="646331"/>
          </a:xfrm>
          <a:prstGeom prst="rect">
            <a:avLst/>
          </a:prstGeom>
          <a:noFill/>
        </p:spPr>
        <p:txBody>
          <a:bodyPr wrap="square" rtlCol="0">
            <a:spAutoFit/>
          </a:bodyPr>
          <a:lstStyle/>
          <a:p>
            <a:pPr marL="12700" algn="ctr">
              <a:lnSpc>
                <a:spcPct val="100000"/>
              </a:lnSpc>
              <a:spcBef>
                <a:spcPts val="105"/>
              </a:spcBef>
              <a:tabLst>
                <a:tab pos="357505" algn="l"/>
              </a:tabLst>
            </a:pPr>
            <a:r>
              <a:rPr lang="en-US" sz="3600" b="1" dirty="0">
                <a:latin typeface="Times New Roman" panose="02020603050405020304" pitchFamily="18" charset="0"/>
                <a:cs typeface="Times New Roman" panose="02020603050405020304" pitchFamily="18" charset="0"/>
              </a:rPr>
              <a:t>Proposed Solution</a:t>
            </a:r>
          </a:p>
        </p:txBody>
      </p:sp>
      <p:sp>
        <p:nvSpPr>
          <p:cNvPr id="18" name="TextBox 17">
            <a:extLst>
              <a:ext uri="{FF2B5EF4-FFF2-40B4-BE49-F238E27FC236}">
                <a16:creationId xmlns:a16="http://schemas.microsoft.com/office/drawing/2014/main" id="{EFF5581A-9B4F-04F4-9D7D-F3DCF68C89D8}"/>
              </a:ext>
            </a:extLst>
          </p:cNvPr>
          <p:cNvSpPr txBox="1"/>
          <p:nvPr/>
        </p:nvSpPr>
        <p:spPr>
          <a:xfrm>
            <a:off x="495300" y="856948"/>
            <a:ext cx="11195302" cy="526297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The proposed solution is a donation platform that connects a project's contributions to real, verified work. Instead of giving money for a general promise, a project is divided into funded milestones, and each milestone has its own planned amount and its own review step. The NGO submits a description of the completed work, its location and supporting files (only file names, types and sizes are saved in this demo), and independent verifiers inspect this evidence and either approve it or reject it with a reason. </a:t>
            </a:r>
          </a:p>
          <a:p>
            <a:r>
              <a:rPr lang="en-US" sz="2400" dirty="0">
                <a:latin typeface="Times New Roman" panose="02020603050405020304" pitchFamily="18" charset="0"/>
                <a:cs typeface="Times New Roman" panose="02020603050405020304" pitchFamily="18" charset="0"/>
              </a:rPr>
              <a:t>           The demo records a milestone's funds as released only after two of three distinct verifiers approve, no verifier can vote twice on the same milestone, and the system also checks that enough unspent contributions are available. A rejection needs a written reason; if two verifiers reject, the milestone needs revision, the money stays locked, and the NGO can submit improved evidence for a fresh review. Donors can see at any time how much was raised, how much has been released, and how much is still held, and a ledger, stored in the browser, records every contribution, evidence submission, verifier vote and release. In this way, trust moves from the NGO's word to checked evidence and a visible record.</a:t>
            </a:r>
          </a:p>
        </p:txBody>
      </p:sp>
    </p:spTree>
    <p:extLst>
      <p:ext uri="{BB962C8B-B14F-4D97-AF65-F5344CB8AC3E}">
        <p14:creationId xmlns:p14="http://schemas.microsoft.com/office/powerpoint/2010/main" val="3913930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9F1B3A3-6F6E-AD3B-1DBD-996C7448F930}"/>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4A3A8274-2D59-4001-40D4-D9C7D5D07EA4}"/>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F983EA4D-8029-D20B-B05D-BAD19E3B2523}"/>
              </a:ext>
            </a:extLst>
          </p:cNvPr>
          <p:cNvPicPr/>
          <p:nvPr/>
        </p:nvPicPr>
        <p:blipFill>
          <a:blip r:embed="rId3" cstate="print"/>
          <a:stretch>
            <a:fillRect/>
          </a:stretch>
        </p:blipFill>
        <p:spPr>
          <a:xfrm>
            <a:off x="10972800" y="0"/>
            <a:ext cx="984503" cy="950976"/>
          </a:xfrm>
          <a:prstGeom prst="rect">
            <a:avLst/>
          </a:prstGeom>
        </p:spPr>
      </p:pic>
      <p:grpSp>
        <p:nvGrpSpPr>
          <p:cNvPr id="2" name="object 2">
            <a:extLst>
              <a:ext uri="{FF2B5EF4-FFF2-40B4-BE49-F238E27FC236}">
                <a16:creationId xmlns:a16="http://schemas.microsoft.com/office/drawing/2014/main" id="{021DA104-0CB0-104B-4F67-CC300E2A9E2F}"/>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A99ABA68-B6BB-634E-9A13-9C587F6B9187}"/>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67393D5B-A40D-7824-9038-11B13C5808E7}"/>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E155B3DD-F7BE-919F-A5BD-5EC89EC080C1}"/>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615448C6-EB07-76F4-AE26-6BBDE1DE6C46}"/>
              </a:ext>
            </a:extLst>
          </p:cNvPr>
          <p:cNvSpPr txBox="1"/>
          <p:nvPr/>
        </p:nvSpPr>
        <p:spPr>
          <a:xfrm>
            <a:off x="11849353" y="6646276"/>
            <a:ext cx="107950"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7</a:t>
            </a:r>
            <a:endParaRPr sz="1100" dirty="0">
              <a:latin typeface="Trebuchet MS"/>
              <a:cs typeface="Trebuchet MS"/>
            </a:endParaRPr>
          </a:p>
        </p:txBody>
      </p:sp>
      <p:sp>
        <p:nvSpPr>
          <p:cNvPr id="5" name="TextBox 4">
            <a:extLst>
              <a:ext uri="{FF2B5EF4-FFF2-40B4-BE49-F238E27FC236}">
                <a16:creationId xmlns:a16="http://schemas.microsoft.com/office/drawing/2014/main" id="{72AC1C22-57BA-6D04-E4D0-264C9C30E8D8}"/>
              </a:ext>
            </a:extLst>
          </p:cNvPr>
          <p:cNvSpPr txBox="1"/>
          <p:nvPr/>
        </p:nvSpPr>
        <p:spPr>
          <a:xfrm>
            <a:off x="2590800" y="76200"/>
            <a:ext cx="7239000" cy="1200329"/>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Analysis/Framework/Algorithm</a:t>
            </a:r>
          </a:p>
          <a:p>
            <a:pPr algn="ctr"/>
            <a:endParaRPr lang="en-US" sz="3600" dirty="0"/>
          </a:p>
        </p:txBody>
      </p:sp>
      <p:pic>
        <p:nvPicPr>
          <p:cNvPr id="16" name="Picture 15">
            <a:extLst>
              <a:ext uri="{FF2B5EF4-FFF2-40B4-BE49-F238E27FC236}">
                <a16:creationId xmlns:a16="http://schemas.microsoft.com/office/drawing/2014/main" id="{2179989E-2260-0FCD-7E2E-CAF1F7899EAE}"/>
              </a:ext>
            </a:extLst>
          </p:cNvPr>
          <p:cNvPicPr>
            <a:picLocks noChangeAspect="1"/>
          </p:cNvPicPr>
          <p:nvPr/>
        </p:nvPicPr>
        <p:blipFill>
          <a:blip r:embed="rId5">
            <a:extLst>
              <a:ext uri="{28A0092B-C50C-407E-A947-70E740481C1C}">
                <a14:useLocalDpi xmlns:a14="http://schemas.microsoft.com/office/drawing/2010/main" val="0"/>
              </a:ext>
            </a:extLst>
          </a:blip>
          <a:srcRect t="3366" b="4773"/>
          <a:stretch>
            <a:fillRect/>
          </a:stretch>
        </p:blipFill>
        <p:spPr>
          <a:xfrm>
            <a:off x="990601" y="762000"/>
            <a:ext cx="10134600" cy="5678853"/>
          </a:xfrm>
          <a:prstGeom prst="rect">
            <a:avLst/>
          </a:prstGeom>
        </p:spPr>
      </p:pic>
    </p:spTree>
    <p:extLst>
      <p:ext uri="{BB962C8B-B14F-4D97-AF65-F5344CB8AC3E}">
        <p14:creationId xmlns:p14="http://schemas.microsoft.com/office/powerpoint/2010/main" val="3488485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F517E7-0866-ECB9-FBBD-9D58D5D02B74}"/>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1512728B-331E-49FF-12A6-39D066BB0DF5}"/>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68116333-4838-7A6B-C7E9-EECB73508B2A}"/>
              </a:ext>
            </a:extLst>
          </p:cNvPr>
          <p:cNvPicPr/>
          <p:nvPr/>
        </p:nvPicPr>
        <p:blipFill>
          <a:blip r:embed="rId3" cstate="print"/>
          <a:stretch>
            <a:fillRect/>
          </a:stretch>
        </p:blipFill>
        <p:spPr>
          <a:xfrm>
            <a:off x="10972801" y="0"/>
            <a:ext cx="876552" cy="819912"/>
          </a:xfrm>
          <a:prstGeom prst="rect">
            <a:avLst/>
          </a:prstGeom>
        </p:spPr>
      </p:pic>
      <p:grpSp>
        <p:nvGrpSpPr>
          <p:cNvPr id="2" name="object 2">
            <a:extLst>
              <a:ext uri="{FF2B5EF4-FFF2-40B4-BE49-F238E27FC236}">
                <a16:creationId xmlns:a16="http://schemas.microsoft.com/office/drawing/2014/main" id="{79C92C7D-5C38-2EBB-7D69-6F8667B010BA}"/>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B0DBE8C2-8BE1-3D7B-5C0B-A7BBCC8F9EC2}"/>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2BBEA1B7-9101-F577-D2BE-B609BE2C358A}"/>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29B19C17-5D50-64C7-BF66-FEBD1387B1D7}"/>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A1EEEBDE-921E-8A27-E432-F35205E1DEB9}"/>
              </a:ext>
            </a:extLst>
          </p:cNvPr>
          <p:cNvSpPr txBox="1"/>
          <p:nvPr/>
        </p:nvSpPr>
        <p:spPr>
          <a:xfrm>
            <a:off x="11849353" y="6646276"/>
            <a:ext cx="107950" cy="173766"/>
          </a:xfrm>
          <a:prstGeom prst="rect">
            <a:avLst/>
          </a:prstGeom>
        </p:spPr>
        <p:txBody>
          <a:bodyPr vert="horz" wrap="square" lIns="0" tIns="4445" rIns="0" bIns="0" rtlCol="0">
            <a:spAutoFit/>
          </a:bodyPr>
          <a:lstStyle/>
          <a:p>
            <a:pPr marL="12700">
              <a:lnSpc>
                <a:spcPct val="100000"/>
              </a:lnSpc>
              <a:spcBef>
                <a:spcPts val="35"/>
              </a:spcBef>
            </a:pPr>
            <a:r>
              <a:rPr lang="en-US" sz="1100" dirty="0">
                <a:solidFill>
                  <a:schemeClr val="bg1"/>
                </a:solidFill>
                <a:latin typeface="Trebuchet MS"/>
                <a:cs typeface="Trebuchet MS"/>
              </a:rPr>
              <a:t>8</a:t>
            </a:r>
            <a:endParaRPr sz="1100" dirty="0">
              <a:solidFill>
                <a:schemeClr val="bg1"/>
              </a:solidFill>
              <a:latin typeface="Trebuchet MS"/>
              <a:cs typeface="Trebuchet MS"/>
            </a:endParaRPr>
          </a:p>
        </p:txBody>
      </p:sp>
      <p:sp>
        <p:nvSpPr>
          <p:cNvPr id="5" name="TextBox 4">
            <a:extLst>
              <a:ext uri="{FF2B5EF4-FFF2-40B4-BE49-F238E27FC236}">
                <a16:creationId xmlns:a16="http://schemas.microsoft.com/office/drawing/2014/main" id="{37FEF000-B0BC-39D7-02EA-514485465D9A}"/>
              </a:ext>
            </a:extLst>
          </p:cNvPr>
          <p:cNvSpPr txBox="1"/>
          <p:nvPr/>
        </p:nvSpPr>
        <p:spPr>
          <a:xfrm>
            <a:off x="2209800" y="30771"/>
            <a:ext cx="7239000" cy="1200329"/>
          </a:xfrm>
          <a:prstGeom prst="rect">
            <a:avLst/>
          </a:prstGeom>
          <a:noFill/>
        </p:spPr>
        <p:txBody>
          <a:bodyPr wrap="square" rtlCol="0">
            <a:spAutoFit/>
          </a:bodyPr>
          <a:lstStyle/>
          <a:p>
            <a:pPr marL="12700" algn="ctr">
              <a:lnSpc>
                <a:spcPct val="100000"/>
              </a:lnSpc>
              <a:spcBef>
                <a:spcPts val="105"/>
              </a:spcBef>
              <a:tabLst>
                <a:tab pos="357505" algn="l"/>
              </a:tabLst>
            </a:pPr>
            <a:r>
              <a:rPr lang="en-US" sz="3600" b="1" dirty="0">
                <a:latin typeface="Times New Roman" panose="02020603050405020304" pitchFamily="18" charset="0"/>
                <a:cs typeface="Times New Roman" panose="02020603050405020304" pitchFamily="18" charset="0"/>
              </a:rPr>
              <a:t>Design Details</a:t>
            </a:r>
          </a:p>
          <a:p>
            <a:pPr algn="ctr"/>
            <a:endParaRPr lang="en-US" sz="3600" dirty="0"/>
          </a:p>
        </p:txBody>
      </p:sp>
      <p:pic>
        <p:nvPicPr>
          <p:cNvPr id="13" name="Picture 12">
            <a:extLst>
              <a:ext uri="{FF2B5EF4-FFF2-40B4-BE49-F238E27FC236}">
                <a16:creationId xmlns:a16="http://schemas.microsoft.com/office/drawing/2014/main" id="{2D91F542-BA94-9FB0-DC6B-F2710B51B0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600" y="903964"/>
            <a:ext cx="5600700" cy="2565407"/>
          </a:xfrm>
          <a:prstGeom prst="rect">
            <a:avLst/>
          </a:prstGeom>
        </p:spPr>
      </p:pic>
      <p:pic>
        <p:nvPicPr>
          <p:cNvPr id="15" name="Picture 14">
            <a:extLst>
              <a:ext uri="{FF2B5EF4-FFF2-40B4-BE49-F238E27FC236}">
                <a16:creationId xmlns:a16="http://schemas.microsoft.com/office/drawing/2014/main" id="{DD88761A-65D2-3C7A-98EF-B93760F688D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8097" y="3773889"/>
            <a:ext cx="5571203" cy="2543186"/>
          </a:xfrm>
          <a:prstGeom prst="rect">
            <a:avLst/>
          </a:prstGeom>
        </p:spPr>
      </p:pic>
      <p:pic>
        <p:nvPicPr>
          <p:cNvPr id="18" name="Picture 17">
            <a:extLst>
              <a:ext uri="{FF2B5EF4-FFF2-40B4-BE49-F238E27FC236}">
                <a16:creationId xmlns:a16="http://schemas.microsoft.com/office/drawing/2014/main" id="{7440C36A-41AC-8DFD-490D-E2B1566CAD9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32141" y="903964"/>
            <a:ext cx="5402659" cy="2525036"/>
          </a:xfrm>
          <a:prstGeom prst="rect">
            <a:avLst/>
          </a:prstGeom>
        </p:spPr>
      </p:pic>
      <p:pic>
        <p:nvPicPr>
          <p:cNvPr id="20" name="Picture 19">
            <a:extLst>
              <a:ext uri="{FF2B5EF4-FFF2-40B4-BE49-F238E27FC236}">
                <a16:creationId xmlns:a16="http://schemas.microsoft.com/office/drawing/2014/main" id="{4C1FD8E5-375D-30F6-94FE-2F92C1DA834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361491" y="3773888"/>
            <a:ext cx="5373309" cy="2525035"/>
          </a:xfrm>
          <a:prstGeom prst="rect">
            <a:avLst/>
          </a:prstGeom>
        </p:spPr>
      </p:pic>
      <p:sp>
        <p:nvSpPr>
          <p:cNvPr id="21" name="TextBox 20">
            <a:extLst>
              <a:ext uri="{FF2B5EF4-FFF2-40B4-BE49-F238E27FC236}">
                <a16:creationId xmlns:a16="http://schemas.microsoft.com/office/drawing/2014/main" id="{056F3445-DBC4-3086-F133-6D6A6EDFF17F}"/>
              </a:ext>
            </a:extLst>
          </p:cNvPr>
          <p:cNvSpPr txBox="1"/>
          <p:nvPr/>
        </p:nvSpPr>
        <p:spPr>
          <a:xfrm>
            <a:off x="609600" y="3469371"/>
            <a:ext cx="4724400" cy="307777"/>
          </a:xfrm>
          <a:prstGeom prst="rect">
            <a:avLst/>
          </a:prstGeom>
          <a:noFill/>
        </p:spPr>
        <p:txBody>
          <a:bodyPr wrap="square" rtlCol="0">
            <a:spAutoFit/>
          </a:bodyPr>
          <a:lstStyle/>
          <a:p>
            <a:pPr algn="ctr"/>
            <a:r>
              <a:rPr lang="en-US" sz="1400" b="1" i="1" dirty="0">
                <a:latin typeface="Times New Roman" panose="02020603050405020304" pitchFamily="18" charset="0"/>
                <a:cs typeface="Times New Roman" panose="02020603050405020304" pitchFamily="18" charset="0"/>
              </a:rPr>
              <a:t>Fig 1. Donor Home Page</a:t>
            </a:r>
          </a:p>
        </p:txBody>
      </p:sp>
      <p:sp>
        <p:nvSpPr>
          <p:cNvPr id="23" name="TextBox 22">
            <a:extLst>
              <a:ext uri="{FF2B5EF4-FFF2-40B4-BE49-F238E27FC236}">
                <a16:creationId xmlns:a16="http://schemas.microsoft.com/office/drawing/2014/main" id="{13712A56-7AD0-F599-0AC4-95D79CBE3686}"/>
              </a:ext>
            </a:extLst>
          </p:cNvPr>
          <p:cNvSpPr txBox="1"/>
          <p:nvPr/>
        </p:nvSpPr>
        <p:spPr>
          <a:xfrm>
            <a:off x="594852" y="6289004"/>
            <a:ext cx="4724400" cy="307777"/>
          </a:xfrm>
          <a:prstGeom prst="rect">
            <a:avLst/>
          </a:prstGeom>
          <a:noFill/>
        </p:spPr>
        <p:txBody>
          <a:bodyPr wrap="square" rtlCol="0">
            <a:spAutoFit/>
          </a:bodyPr>
          <a:lstStyle/>
          <a:p>
            <a:pPr algn="ctr"/>
            <a:r>
              <a:rPr lang="en-US" sz="1400" b="1" i="1" dirty="0">
                <a:latin typeface="Times New Roman" panose="02020603050405020304" pitchFamily="18" charset="0"/>
                <a:cs typeface="Times New Roman" panose="02020603050405020304" pitchFamily="18" charset="0"/>
              </a:rPr>
              <a:t>Fig 2. Contribution History</a:t>
            </a:r>
          </a:p>
        </p:txBody>
      </p:sp>
      <p:sp>
        <p:nvSpPr>
          <p:cNvPr id="25" name="TextBox 24">
            <a:extLst>
              <a:ext uri="{FF2B5EF4-FFF2-40B4-BE49-F238E27FC236}">
                <a16:creationId xmlns:a16="http://schemas.microsoft.com/office/drawing/2014/main" id="{00ED2456-052D-4DDC-508E-6FFE3CC0F0BD}"/>
              </a:ext>
            </a:extLst>
          </p:cNvPr>
          <p:cNvSpPr txBox="1"/>
          <p:nvPr/>
        </p:nvSpPr>
        <p:spPr>
          <a:xfrm>
            <a:off x="6722808" y="6290608"/>
            <a:ext cx="4724400" cy="307777"/>
          </a:xfrm>
          <a:prstGeom prst="rect">
            <a:avLst/>
          </a:prstGeom>
          <a:noFill/>
        </p:spPr>
        <p:txBody>
          <a:bodyPr wrap="square" rtlCol="0">
            <a:spAutoFit/>
          </a:bodyPr>
          <a:lstStyle/>
          <a:p>
            <a:pPr algn="ctr"/>
            <a:r>
              <a:rPr lang="en-US" sz="1400" b="1" i="1" dirty="0">
                <a:latin typeface="Times New Roman" panose="02020603050405020304" pitchFamily="18" charset="0"/>
                <a:cs typeface="Times New Roman" panose="02020603050405020304" pitchFamily="18" charset="0"/>
              </a:rPr>
              <a:t>Fig 4. Verify Workspace</a:t>
            </a:r>
          </a:p>
        </p:txBody>
      </p:sp>
      <p:sp>
        <p:nvSpPr>
          <p:cNvPr id="27" name="TextBox 26">
            <a:extLst>
              <a:ext uri="{FF2B5EF4-FFF2-40B4-BE49-F238E27FC236}">
                <a16:creationId xmlns:a16="http://schemas.microsoft.com/office/drawing/2014/main" id="{B68C4093-1A98-0F9D-626A-57D851E7C07D}"/>
              </a:ext>
            </a:extLst>
          </p:cNvPr>
          <p:cNvSpPr txBox="1"/>
          <p:nvPr/>
        </p:nvSpPr>
        <p:spPr>
          <a:xfrm>
            <a:off x="6705602" y="3435835"/>
            <a:ext cx="4724400" cy="307777"/>
          </a:xfrm>
          <a:prstGeom prst="rect">
            <a:avLst/>
          </a:prstGeom>
          <a:noFill/>
        </p:spPr>
        <p:txBody>
          <a:bodyPr wrap="square" rtlCol="0">
            <a:spAutoFit/>
          </a:bodyPr>
          <a:lstStyle/>
          <a:p>
            <a:pPr algn="ctr"/>
            <a:r>
              <a:rPr lang="en-US" sz="1400" b="1" i="1" dirty="0">
                <a:latin typeface="Times New Roman" panose="02020603050405020304" pitchFamily="18" charset="0"/>
                <a:cs typeface="Times New Roman" panose="02020603050405020304" pitchFamily="18" charset="0"/>
              </a:rPr>
              <a:t>Fig 3. NGO Workspace</a:t>
            </a:r>
          </a:p>
        </p:txBody>
      </p:sp>
    </p:spTree>
    <p:extLst>
      <p:ext uri="{BB962C8B-B14F-4D97-AF65-F5344CB8AC3E}">
        <p14:creationId xmlns:p14="http://schemas.microsoft.com/office/powerpoint/2010/main" val="3558958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BC11D91-D7A1-FA80-B61E-14D798AEA6BB}"/>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088AD197-4EDF-2329-CA05-F2523D8DFCC9}"/>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FFF6CA19-5261-DBA8-FD56-C1CA28200597}"/>
              </a:ext>
            </a:extLst>
          </p:cNvPr>
          <p:cNvPicPr/>
          <p:nvPr/>
        </p:nvPicPr>
        <p:blipFill>
          <a:blip r:embed="rId3" cstate="print"/>
          <a:stretch>
            <a:fillRect/>
          </a:stretch>
        </p:blipFill>
        <p:spPr>
          <a:xfrm>
            <a:off x="10972800" y="0"/>
            <a:ext cx="984503" cy="950976"/>
          </a:xfrm>
          <a:prstGeom prst="rect">
            <a:avLst/>
          </a:prstGeom>
        </p:spPr>
      </p:pic>
      <p:grpSp>
        <p:nvGrpSpPr>
          <p:cNvPr id="2" name="object 2">
            <a:extLst>
              <a:ext uri="{FF2B5EF4-FFF2-40B4-BE49-F238E27FC236}">
                <a16:creationId xmlns:a16="http://schemas.microsoft.com/office/drawing/2014/main" id="{05B22051-1444-9B6B-E746-0A060861D151}"/>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A349790F-32FA-9AA7-0C2A-20C2A2DAB3EA}"/>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BB00E3A1-1950-0F1A-2F9F-6C56E97D5C37}"/>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CD38DCBE-C6D4-0638-FBBD-DD491F5FC21B}"/>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D1846E93-2CDE-ED94-AF94-ABCDD271F796}"/>
              </a:ext>
            </a:extLst>
          </p:cNvPr>
          <p:cNvSpPr txBox="1"/>
          <p:nvPr/>
        </p:nvSpPr>
        <p:spPr>
          <a:xfrm>
            <a:off x="11849353" y="6646276"/>
            <a:ext cx="107950"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9</a:t>
            </a:r>
            <a:endParaRPr sz="1100" dirty="0">
              <a:latin typeface="Trebuchet MS"/>
              <a:cs typeface="Trebuchet MS"/>
            </a:endParaRPr>
          </a:p>
        </p:txBody>
      </p:sp>
      <p:sp>
        <p:nvSpPr>
          <p:cNvPr id="5" name="TextBox 4">
            <a:extLst>
              <a:ext uri="{FF2B5EF4-FFF2-40B4-BE49-F238E27FC236}">
                <a16:creationId xmlns:a16="http://schemas.microsoft.com/office/drawing/2014/main" id="{F8A8578B-B5B4-CEEF-5ED5-A307838415F7}"/>
              </a:ext>
            </a:extLst>
          </p:cNvPr>
          <p:cNvSpPr txBox="1"/>
          <p:nvPr/>
        </p:nvSpPr>
        <p:spPr>
          <a:xfrm>
            <a:off x="2209800" y="30771"/>
            <a:ext cx="7239000" cy="1200329"/>
          </a:xfrm>
          <a:prstGeom prst="rect">
            <a:avLst/>
          </a:prstGeom>
          <a:noFill/>
        </p:spPr>
        <p:txBody>
          <a:bodyPr wrap="square" rtlCol="0">
            <a:spAutoFit/>
          </a:bodyPr>
          <a:lstStyle/>
          <a:p>
            <a:pPr marL="12700" algn="ctr">
              <a:lnSpc>
                <a:spcPct val="100000"/>
              </a:lnSpc>
              <a:spcBef>
                <a:spcPts val="105"/>
              </a:spcBef>
              <a:tabLst>
                <a:tab pos="357505" algn="l"/>
              </a:tabLst>
            </a:pPr>
            <a:r>
              <a:rPr lang="en-US" sz="3600" b="1" dirty="0">
                <a:latin typeface="Times New Roman" panose="02020603050405020304" pitchFamily="18" charset="0"/>
                <a:cs typeface="Times New Roman" panose="02020603050405020304" pitchFamily="18" charset="0"/>
              </a:rPr>
              <a:t>Methodology Proposed </a:t>
            </a:r>
          </a:p>
          <a:p>
            <a:pPr algn="ctr"/>
            <a:endParaRPr lang="en-US" sz="3600" b="1" dirty="0"/>
          </a:p>
        </p:txBody>
      </p:sp>
      <p:pic>
        <p:nvPicPr>
          <p:cNvPr id="11" name="Picture 10">
            <a:extLst>
              <a:ext uri="{FF2B5EF4-FFF2-40B4-BE49-F238E27FC236}">
                <a16:creationId xmlns:a16="http://schemas.microsoft.com/office/drawing/2014/main" id="{31310D01-1E28-0E29-631C-1D19B541FF3F}"/>
              </a:ext>
            </a:extLst>
          </p:cNvPr>
          <p:cNvPicPr>
            <a:picLocks noChangeAspect="1"/>
          </p:cNvPicPr>
          <p:nvPr/>
        </p:nvPicPr>
        <p:blipFill>
          <a:blip r:embed="rId5" cstate="print">
            <a:extLst>
              <a:ext uri="{28A0092B-C50C-407E-A947-70E740481C1C}">
                <a14:useLocalDpi xmlns:a14="http://schemas.microsoft.com/office/drawing/2010/main" val="0"/>
              </a:ext>
            </a:extLst>
          </a:blip>
          <a:srcRect t="7547"/>
          <a:stretch>
            <a:fillRect/>
          </a:stretch>
        </p:blipFill>
        <p:spPr>
          <a:xfrm>
            <a:off x="152401" y="988012"/>
            <a:ext cx="11696952" cy="5452841"/>
          </a:xfrm>
          <a:prstGeom prst="rect">
            <a:avLst/>
          </a:prstGeom>
        </p:spPr>
      </p:pic>
      <p:sp>
        <p:nvSpPr>
          <p:cNvPr id="20" name="Demo Caption"/>
          <p:cNvSpPr txBox="1"/>
          <p:nvPr/>
        </p:nvSpPr>
        <p:spPr>
          <a:xfrm>
            <a:off x="152401" y="6330000"/>
            <a:ext cx="11696952" cy="230000"/>
          </a:xfrm>
          <a:prstGeom prst="rect">
            <a:avLst/>
          </a:prstGeom>
          <a:noFill/>
        </p:spPr>
        <p:txBody>
          <a:bodyPr wrap="square" lIns="0" tIns="0" rIns="0" bIns="0" rtlCol="0" anchor="ctr"/>
          <a:lstStyle/>
          <a:p>
            <a:pPr algn="ctr"/>
            <a:r>
              <a:rPr lang="en-US" sz="1200" i="1" dirty="0">
                <a:latin typeface="Times New Roman"/>
                <a:cs typeface="Times New Roman"/>
              </a:rPr>
              <a:t>Demo prototype: "Release funds" and the "ledger" are simulated records kept in the browser; no real money or blockchain is involved.</a:t>
            </a:r>
          </a:p>
        </p:txBody>
      </p:sp>
    </p:spTree>
    <p:extLst>
      <p:ext uri="{BB962C8B-B14F-4D97-AF65-F5344CB8AC3E}">
        <p14:creationId xmlns:p14="http://schemas.microsoft.com/office/powerpoint/2010/main" val="3718238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04C75ED-575C-64C9-FB0B-4ACFA803BD59}"/>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5935F47A-F595-E32F-C850-58ABAF21D990}"/>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487862B4-F3FC-98BB-029B-69D7A8090C2D}"/>
              </a:ext>
            </a:extLst>
          </p:cNvPr>
          <p:cNvPicPr/>
          <p:nvPr/>
        </p:nvPicPr>
        <p:blipFill>
          <a:blip r:embed="rId3" cstate="print"/>
          <a:stretch>
            <a:fillRect/>
          </a:stretch>
        </p:blipFill>
        <p:spPr>
          <a:xfrm>
            <a:off x="10972800" y="0"/>
            <a:ext cx="984503" cy="950976"/>
          </a:xfrm>
          <a:prstGeom prst="rect">
            <a:avLst/>
          </a:prstGeom>
        </p:spPr>
      </p:pic>
      <p:grpSp>
        <p:nvGrpSpPr>
          <p:cNvPr id="2" name="object 2">
            <a:extLst>
              <a:ext uri="{FF2B5EF4-FFF2-40B4-BE49-F238E27FC236}">
                <a16:creationId xmlns:a16="http://schemas.microsoft.com/office/drawing/2014/main" id="{50E36EBC-324D-55F7-4814-17145CC923A5}"/>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4A065836-1072-D34C-2EB2-280A4992542C}"/>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333B0CC6-7CED-4D28-5CE5-3392FEC6AD43}"/>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733AE458-96AA-0EED-B409-4F7975A2FA36}"/>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3079EDB4-2FDF-B9E6-62A2-DAF1B17342DC}"/>
              </a:ext>
            </a:extLst>
          </p:cNvPr>
          <p:cNvSpPr txBox="1"/>
          <p:nvPr/>
        </p:nvSpPr>
        <p:spPr>
          <a:xfrm>
            <a:off x="11849352" y="6646276"/>
            <a:ext cx="190247"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10</a:t>
            </a:r>
            <a:endParaRPr sz="1100" dirty="0">
              <a:latin typeface="Trebuchet MS"/>
              <a:cs typeface="Trebuchet MS"/>
            </a:endParaRPr>
          </a:p>
        </p:txBody>
      </p:sp>
      <p:sp>
        <p:nvSpPr>
          <p:cNvPr id="5" name="TextBox 4">
            <a:extLst>
              <a:ext uri="{FF2B5EF4-FFF2-40B4-BE49-F238E27FC236}">
                <a16:creationId xmlns:a16="http://schemas.microsoft.com/office/drawing/2014/main" id="{2DB4C7F4-6766-754D-458B-9FE6F1DB772C}"/>
              </a:ext>
            </a:extLst>
          </p:cNvPr>
          <p:cNvSpPr txBox="1"/>
          <p:nvPr/>
        </p:nvSpPr>
        <p:spPr>
          <a:xfrm>
            <a:off x="2209800" y="30771"/>
            <a:ext cx="7239000" cy="1213153"/>
          </a:xfrm>
          <a:prstGeom prst="rect">
            <a:avLst/>
          </a:prstGeom>
          <a:noFill/>
        </p:spPr>
        <p:txBody>
          <a:bodyPr wrap="square" rtlCol="0">
            <a:spAutoFit/>
          </a:bodyPr>
          <a:lstStyle/>
          <a:p>
            <a:pPr marL="12700" algn="ctr">
              <a:lnSpc>
                <a:spcPct val="100000"/>
              </a:lnSpc>
              <a:spcBef>
                <a:spcPts val="105"/>
              </a:spcBef>
              <a:tabLst>
                <a:tab pos="357505" algn="l"/>
              </a:tabLst>
            </a:pPr>
            <a:r>
              <a:rPr lang="en-US" sz="3600" b="1" dirty="0">
                <a:latin typeface="Times New Roman" panose="02020603050405020304" pitchFamily="18" charset="0"/>
                <a:cs typeface="Times New Roman" panose="02020603050405020304" pitchFamily="18" charset="0"/>
              </a:rPr>
              <a:t>Technology used </a:t>
            </a:r>
          </a:p>
          <a:p>
            <a:pPr marL="12700">
              <a:lnSpc>
                <a:spcPct val="100000"/>
              </a:lnSpc>
              <a:spcBef>
                <a:spcPts val="105"/>
              </a:spcBef>
              <a:tabLst>
                <a:tab pos="357505" algn="l"/>
              </a:tabLst>
            </a:pPr>
            <a:r>
              <a:rPr lang="en-US" sz="3600" dirty="0">
                <a:latin typeface="Times New Roman" panose="02020603050405020304" pitchFamily="18" charset="0"/>
                <a:cs typeface="Times New Roman" panose="02020603050405020304" pitchFamily="18" charset="0"/>
              </a:rPr>
              <a:t>   </a:t>
            </a:r>
            <a:endParaRPr lang="en-US" sz="3600" b="1" dirty="0"/>
          </a:p>
        </p:txBody>
      </p:sp>
      <p:pic>
        <p:nvPicPr>
          <p:cNvPr id="12" name="Picture 11">
            <a:extLst>
              <a:ext uri="{FF2B5EF4-FFF2-40B4-BE49-F238E27FC236}">
                <a16:creationId xmlns:a16="http://schemas.microsoft.com/office/drawing/2014/main" id="{52AD8ABD-648D-497B-0007-DCA0AAE907A8}"/>
              </a:ext>
            </a:extLst>
          </p:cNvPr>
          <p:cNvPicPr>
            <a:picLocks noChangeAspect="1"/>
          </p:cNvPicPr>
          <p:nvPr/>
        </p:nvPicPr>
        <p:blipFill>
          <a:blip r:embed="rId5" cstate="print">
            <a:extLst>
              <a:ext uri="{28A0092B-C50C-407E-A947-70E740481C1C}">
                <a14:useLocalDpi xmlns:a14="http://schemas.microsoft.com/office/drawing/2010/main" val="0"/>
              </a:ext>
            </a:extLst>
          </a:blip>
          <a:srcRect l="1947" t="7662" r="2001"/>
          <a:stretch>
            <a:fillRect/>
          </a:stretch>
        </p:blipFill>
        <p:spPr>
          <a:xfrm>
            <a:off x="342900" y="988012"/>
            <a:ext cx="11468100" cy="5452841"/>
          </a:xfrm>
          <a:prstGeom prst="rect">
            <a:avLst/>
          </a:prstGeom>
        </p:spPr>
      </p:pic>
    </p:spTree>
    <p:extLst>
      <p:ext uri="{BB962C8B-B14F-4D97-AF65-F5344CB8AC3E}">
        <p14:creationId xmlns:p14="http://schemas.microsoft.com/office/powerpoint/2010/main" val="3098502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91C9A8-E4E5-E393-8A51-B7F1A785D5C8}"/>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B18C73AD-E31C-2719-C899-97650EF73359}"/>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41A47B68-9838-7AB2-BCA3-3FC3E645A93F}"/>
              </a:ext>
            </a:extLst>
          </p:cNvPr>
          <p:cNvPicPr/>
          <p:nvPr/>
        </p:nvPicPr>
        <p:blipFill>
          <a:blip r:embed="rId3" cstate="print"/>
          <a:stretch>
            <a:fillRect/>
          </a:stretch>
        </p:blipFill>
        <p:spPr>
          <a:xfrm>
            <a:off x="10972800" y="0"/>
            <a:ext cx="984503" cy="950976"/>
          </a:xfrm>
          <a:prstGeom prst="rect">
            <a:avLst/>
          </a:prstGeom>
        </p:spPr>
      </p:pic>
      <p:grpSp>
        <p:nvGrpSpPr>
          <p:cNvPr id="2" name="object 2">
            <a:extLst>
              <a:ext uri="{FF2B5EF4-FFF2-40B4-BE49-F238E27FC236}">
                <a16:creationId xmlns:a16="http://schemas.microsoft.com/office/drawing/2014/main" id="{5853E51B-DF14-879C-96C5-639A5C5AAE82}"/>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2175BD5B-4FA7-3C05-F641-36E7D7F440D3}"/>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ED8BC28C-DE07-0ED7-9684-6605A1996CFF}"/>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9F2743FE-376F-265E-8376-B60C193E79C3}"/>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DE378556-DE5D-7207-A4BD-E89896CA6270}"/>
              </a:ext>
            </a:extLst>
          </p:cNvPr>
          <p:cNvSpPr txBox="1"/>
          <p:nvPr/>
        </p:nvSpPr>
        <p:spPr>
          <a:xfrm>
            <a:off x="11749353" y="6646276"/>
            <a:ext cx="260000"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12</a:t>
            </a:r>
            <a:endParaRPr sz="1100" dirty="0">
              <a:latin typeface="Trebuchet MS"/>
              <a:cs typeface="Trebuchet MS"/>
            </a:endParaRPr>
          </a:p>
        </p:txBody>
      </p:sp>
      <p:sp>
        <p:nvSpPr>
          <p:cNvPr id="5" name="TextBox 4">
            <a:extLst>
              <a:ext uri="{FF2B5EF4-FFF2-40B4-BE49-F238E27FC236}">
                <a16:creationId xmlns:a16="http://schemas.microsoft.com/office/drawing/2014/main" id="{94E9834D-6681-7B6C-151D-8CD1D592350F}"/>
              </a:ext>
            </a:extLst>
          </p:cNvPr>
          <p:cNvSpPr txBox="1"/>
          <p:nvPr/>
        </p:nvSpPr>
        <p:spPr>
          <a:xfrm>
            <a:off x="2209800" y="30771"/>
            <a:ext cx="7239000" cy="1213153"/>
          </a:xfrm>
          <a:prstGeom prst="rect">
            <a:avLst/>
          </a:prstGeom>
          <a:noFill/>
        </p:spPr>
        <p:txBody>
          <a:bodyPr wrap="square" rtlCol="0">
            <a:spAutoFit/>
          </a:bodyPr>
          <a:lstStyle/>
          <a:p>
            <a:pPr marL="12700" algn="ctr">
              <a:lnSpc>
                <a:spcPct val="100000"/>
              </a:lnSpc>
              <a:spcBef>
                <a:spcPts val="105"/>
              </a:spcBef>
              <a:tabLst>
                <a:tab pos="357505" algn="l"/>
              </a:tabLst>
            </a:pPr>
            <a:r>
              <a:rPr lang="en-US" sz="3600" b="1" dirty="0">
                <a:latin typeface="Times New Roman" panose="02020603050405020304" pitchFamily="18" charset="0"/>
                <a:cs typeface="Times New Roman" panose="02020603050405020304" pitchFamily="18" charset="0"/>
              </a:rPr>
              <a:t>References</a:t>
            </a:r>
          </a:p>
          <a:p>
            <a:pPr marL="12700">
              <a:lnSpc>
                <a:spcPct val="100000"/>
              </a:lnSpc>
              <a:spcBef>
                <a:spcPts val="105"/>
              </a:spcBef>
              <a:tabLst>
                <a:tab pos="357505" algn="l"/>
              </a:tabLst>
            </a:pPr>
            <a:r>
              <a:rPr lang="en-US" sz="3600" dirty="0">
                <a:latin typeface="Times New Roman" panose="02020603050405020304" pitchFamily="18" charset="0"/>
                <a:cs typeface="Times New Roman" panose="02020603050405020304" pitchFamily="18" charset="0"/>
              </a:rPr>
              <a:t>   </a:t>
            </a:r>
            <a:endParaRPr lang="en-US" sz="3600" b="1" dirty="0"/>
          </a:p>
        </p:txBody>
      </p:sp>
      <p:sp>
        <p:nvSpPr>
          <p:cNvPr id="10" name="TextBox 9">
            <a:extLst>
              <a:ext uri="{FF2B5EF4-FFF2-40B4-BE49-F238E27FC236}">
                <a16:creationId xmlns:a16="http://schemas.microsoft.com/office/drawing/2014/main" id="{646E1168-3B70-D187-E51C-7AEF20D6F262}"/>
              </a:ext>
            </a:extLst>
          </p:cNvPr>
          <p:cNvSpPr txBox="1"/>
          <p:nvPr/>
        </p:nvSpPr>
        <p:spPr>
          <a:xfrm>
            <a:off x="265471" y="1010884"/>
            <a:ext cx="11500103" cy="5355312"/>
          </a:xfrm>
          <a:prstGeom prst="rect">
            <a:avLst/>
          </a:prstGeom>
          <a:noFill/>
          <a:ln>
            <a:noFill/>
          </a:ln>
        </p:spPr>
        <p:txBody>
          <a:bodyPr wrap="square" rtlCol="0">
            <a:spAutoFit/>
          </a:bodyPr>
          <a:lstStyle/>
          <a:p>
            <a:pPr marL="285750" indent="-285750" rtl="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 Saleh, S. Avdoshin, and A. </a:t>
            </a:r>
            <a:r>
              <a:rPr lang="en-US" dirty="0" err="1">
                <a:latin typeface="Times New Roman" panose="02020603050405020304" pitchFamily="18" charset="0"/>
                <a:cs typeface="Times New Roman" panose="02020603050405020304" pitchFamily="18" charset="0"/>
              </a:rPr>
              <a:t>Dzhonov</a:t>
            </a:r>
            <a:r>
              <a:rPr lang="en-US" dirty="0">
                <a:latin typeface="Times New Roman" panose="02020603050405020304" pitchFamily="18" charset="0"/>
                <a:cs typeface="Times New Roman" panose="02020603050405020304" pitchFamily="18" charset="0"/>
              </a:rPr>
              <a:t>, "Platform for tracking donations of charitable foundations based on blockchain technology," in </a:t>
            </a:r>
            <a:r>
              <a:rPr lang="en-US" i="1" dirty="0">
                <a:latin typeface="Times New Roman" panose="02020603050405020304" pitchFamily="18" charset="0"/>
                <a:cs typeface="Times New Roman" panose="02020603050405020304" pitchFamily="18" charset="0"/>
              </a:rPr>
              <a:t>Proc. 2019 Actual Problems of Systems and Software Engineering (APSSE)</a:t>
            </a:r>
            <a:r>
              <a:rPr lang="en-US" dirty="0">
                <a:latin typeface="Times New Roman" panose="02020603050405020304" pitchFamily="18" charset="0"/>
                <a:cs typeface="Times New Roman" panose="02020603050405020304" pitchFamily="18" charset="0"/>
              </a:rPr>
              <a:t>, Moscow, Russia, Nov. 2019,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10.1109/APSSE47353.2019.00031.</a:t>
            </a:r>
          </a:p>
          <a:p>
            <a:pPr marL="285750" indent="-285750" rtl="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 Hu and H. Li, "Research on charity system based on blockchain," </a:t>
            </a:r>
            <a:r>
              <a:rPr lang="en-US" i="1" dirty="0">
                <a:latin typeface="Times New Roman" panose="02020603050405020304" pitchFamily="18" charset="0"/>
                <a:cs typeface="Times New Roman" panose="02020603050405020304" pitchFamily="18" charset="0"/>
              </a:rPr>
              <a:t>IOP Conf. Ser.: Mater. Sci. Eng.</a:t>
            </a:r>
            <a:r>
              <a:rPr lang="en-US" dirty="0">
                <a:latin typeface="Times New Roman" panose="02020603050405020304" pitchFamily="18" charset="0"/>
                <a:cs typeface="Times New Roman" panose="02020603050405020304" pitchFamily="18" charset="0"/>
              </a:rPr>
              <a:t>, vol. 768, no. 7, Art. no. 072020, 2020,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10.1088/1757-899X/768/7/072020.</a:t>
            </a:r>
          </a:p>
          <a:p>
            <a:pPr marL="285750" indent="-285750" rtl="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 Nairi, M. </a:t>
            </a:r>
            <a:r>
              <a:rPr lang="en-US" dirty="0" err="1">
                <a:latin typeface="Times New Roman" panose="02020603050405020304" pitchFamily="18" charset="0"/>
                <a:cs typeface="Times New Roman" panose="02020603050405020304" pitchFamily="18" charset="0"/>
              </a:rPr>
              <a:t>Cicioğlu</a:t>
            </a:r>
            <a:r>
              <a:rPr lang="en-US" dirty="0">
                <a:latin typeface="Times New Roman" panose="02020603050405020304" pitchFamily="18" charset="0"/>
                <a:cs typeface="Times New Roman" panose="02020603050405020304" pitchFamily="18" charset="0"/>
              </a:rPr>
              <a:t>, and A. </a:t>
            </a:r>
            <a:r>
              <a:rPr lang="en-US" dirty="0" err="1">
                <a:latin typeface="Times New Roman" panose="02020603050405020304" pitchFamily="18" charset="0"/>
                <a:cs typeface="Times New Roman" panose="02020603050405020304" pitchFamily="18" charset="0"/>
              </a:rPr>
              <a:t>Çalhan</a:t>
            </a:r>
            <a:r>
              <a:rPr lang="en-US" dirty="0">
                <a:latin typeface="Times New Roman" panose="02020603050405020304" pitchFamily="18" charset="0"/>
                <a:cs typeface="Times New Roman" panose="02020603050405020304" pitchFamily="18" charset="0"/>
              </a:rPr>
              <a:t>, "Smart blockchain networks: Revolutionizing donation tracking in the Web 3.0," </a:t>
            </a:r>
            <a:r>
              <a:rPr lang="en-US" i="1" dirty="0">
                <a:latin typeface="Times New Roman" panose="02020603050405020304" pitchFamily="18" charset="0"/>
                <a:cs typeface="Times New Roman" panose="02020603050405020304" pitchFamily="18" charset="0"/>
              </a:rPr>
              <a:t>Computer Communications</a:t>
            </a:r>
            <a:r>
              <a:rPr lang="en-US" dirty="0">
                <a:latin typeface="Times New Roman" panose="02020603050405020304" pitchFamily="18" charset="0"/>
                <a:cs typeface="Times New Roman" panose="02020603050405020304" pitchFamily="18" charset="0"/>
              </a:rPr>
              <a:t>, vol. 228, Art. no. 107972, Dec. 2024.</a:t>
            </a:r>
          </a:p>
          <a:p>
            <a:pPr marL="285750" indent="-285750" rtl="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0" indent="-285750" rtl="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Singh, R. Rajak, H. Mistry, and P. Raut, "Aid, charity and donation tracking system using blockchain," in </a:t>
            </a:r>
            <a:r>
              <a:rPr lang="en-US" i="1" dirty="0">
                <a:latin typeface="Times New Roman" panose="02020603050405020304" pitchFamily="18" charset="0"/>
                <a:cs typeface="Times New Roman" panose="02020603050405020304" pitchFamily="18" charset="0"/>
              </a:rPr>
              <a:t>Proc. 4th Int. Conf. Trends Electron. </a:t>
            </a:r>
            <a:r>
              <a:rPr lang="en-US" i="1" dirty="0" err="1">
                <a:latin typeface="Times New Roman" panose="02020603050405020304" pitchFamily="18" charset="0"/>
                <a:cs typeface="Times New Roman" panose="02020603050405020304" pitchFamily="18" charset="0"/>
              </a:rPr>
              <a:t>Informat</a:t>
            </a:r>
            <a:r>
              <a:rPr lang="en-US" i="1" dirty="0">
                <a:latin typeface="Times New Roman" panose="02020603050405020304" pitchFamily="18" charset="0"/>
                <a:cs typeface="Times New Roman" panose="02020603050405020304" pitchFamily="18" charset="0"/>
              </a:rPr>
              <a:t>. (ICOEI)</a:t>
            </a:r>
            <a:r>
              <a:rPr lang="en-US" dirty="0">
                <a:latin typeface="Times New Roman" panose="02020603050405020304" pitchFamily="18" charset="0"/>
                <a:cs typeface="Times New Roman" panose="02020603050405020304" pitchFamily="18" charset="0"/>
              </a:rPr>
              <a:t>, 2020,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10.1109/ICOEI48184.2020.9143001.</a:t>
            </a:r>
          </a:p>
          <a:p>
            <a:pPr marL="285750" lvl="0" indent="-285750" rtl="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0" indent="-285750" rtl="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 S. Sirisha, T. Agarwal, R. Monde, R. Yadav, and R. Hande, "Proposed solution for trackable donations using blockchain," in </a:t>
            </a:r>
            <a:r>
              <a:rPr lang="en-US" i="1" dirty="0">
                <a:latin typeface="Times New Roman" panose="02020603050405020304" pitchFamily="18" charset="0"/>
                <a:cs typeface="Times New Roman" panose="02020603050405020304" pitchFamily="18" charset="0"/>
              </a:rPr>
              <a:t>Proc. 2019 Int. Conf. Nascent Technol. Eng. (ICNTE)</a:t>
            </a:r>
            <a:r>
              <a:rPr lang="en-US" dirty="0">
                <a:latin typeface="Times New Roman" panose="02020603050405020304" pitchFamily="18" charset="0"/>
                <a:cs typeface="Times New Roman" panose="02020603050405020304" pitchFamily="18" charset="0"/>
              </a:rPr>
              <a:t>, 2019,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10.1109/ICNTE44896.2019.8946019.</a:t>
            </a:r>
          </a:p>
          <a:p>
            <a:pPr marL="285750" lvl="0" indent="-285750" rtl="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0" indent="-285750" rtl="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 Lee, A. Seo, Y. Kim, and J. Jeong, "Blockchain-based one-off address system to guarantee transparency and privacy for a sustainable donation environment," </a:t>
            </a:r>
            <a:r>
              <a:rPr lang="en-US" i="1" dirty="0">
                <a:latin typeface="Times New Roman" panose="02020603050405020304" pitchFamily="18" charset="0"/>
                <a:cs typeface="Times New Roman" panose="02020603050405020304" pitchFamily="18" charset="0"/>
              </a:rPr>
              <a:t>Sustainability</a:t>
            </a:r>
            <a:r>
              <a:rPr lang="en-US" dirty="0">
                <a:latin typeface="Times New Roman" panose="02020603050405020304" pitchFamily="18" charset="0"/>
                <a:cs typeface="Times New Roman" panose="02020603050405020304" pitchFamily="18" charset="0"/>
              </a:rPr>
              <a:t>, vol. 10, 2018,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10.3390/su10124422.</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52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1EDEF67-18CE-521D-6E91-5777906FF46D}"/>
            </a:ext>
          </a:extLst>
        </p:cNvPr>
        <p:cNvGrpSpPr/>
        <p:nvPr/>
      </p:nvGrpSpPr>
      <p:grpSpPr>
        <a:xfrm>
          <a:off x="0" y="0"/>
          <a:ext cx="0" cy="0"/>
          <a:chOff x="0" y="0"/>
          <a:chExt cx="0" cy="0"/>
        </a:xfrm>
      </p:grpSpPr>
      <p:pic>
        <p:nvPicPr>
          <p:cNvPr id="6" name="object 6">
            <a:extLst>
              <a:ext uri="{FF2B5EF4-FFF2-40B4-BE49-F238E27FC236}">
                <a16:creationId xmlns:a16="http://schemas.microsoft.com/office/drawing/2014/main" id="{E423BD3B-BE38-F480-F573-228D4B9CB114}"/>
              </a:ext>
            </a:extLst>
          </p:cNvPr>
          <p:cNvPicPr/>
          <p:nvPr/>
        </p:nvPicPr>
        <p:blipFill>
          <a:blip r:embed="rId2" cstate="print"/>
          <a:stretch>
            <a:fillRect/>
          </a:stretch>
        </p:blipFill>
        <p:spPr>
          <a:xfrm>
            <a:off x="0" y="0"/>
            <a:ext cx="990600" cy="819912"/>
          </a:xfrm>
          <a:prstGeom prst="rect">
            <a:avLst/>
          </a:prstGeom>
        </p:spPr>
      </p:pic>
      <p:pic>
        <p:nvPicPr>
          <p:cNvPr id="7" name="object 7">
            <a:extLst>
              <a:ext uri="{FF2B5EF4-FFF2-40B4-BE49-F238E27FC236}">
                <a16:creationId xmlns:a16="http://schemas.microsoft.com/office/drawing/2014/main" id="{E2F691BF-86D5-F9FA-A4E0-8DE854740DB5}"/>
              </a:ext>
            </a:extLst>
          </p:cNvPr>
          <p:cNvPicPr/>
          <p:nvPr/>
        </p:nvPicPr>
        <p:blipFill>
          <a:blip r:embed="rId3" cstate="print"/>
          <a:stretch>
            <a:fillRect/>
          </a:stretch>
        </p:blipFill>
        <p:spPr>
          <a:xfrm>
            <a:off x="10972800" y="0"/>
            <a:ext cx="984503" cy="950976"/>
          </a:xfrm>
          <a:prstGeom prst="rect">
            <a:avLst/>
          </a:prstGeom>
        </p:spPr>
      </p:pic>
      <p:grpSp>
        <p:nvGrpSpPr>
          <p:cNvPr id="2" name="object 2">
            <a:extLst>
              <a:ext uri="{FF2B5EF4-FFF2-40B4-BE49-F238E27FC236}">
                <a16:creationId xmlns:a16="http://schemas.microsoft.com/office/drawing/2014/main" id="{E0D205BC-D325-EA30-1E61-3B3527EE80A2}"/>
              </a:ext>
            </a:extLst>
          </p:cNvPr>
          <p:cNvGrpSpPr/>
          <p:nvPr/>
        </p:nvGrpSpPr>
        <p:grpSpPr>
          <a:xfrm>
            <a:off x="0" y="6571917"/>
            <a:ext cx="12192000" cy="286589"/>
            <a:chOff x="0" y="6693406"/>
            <a:chExt cx="12192000" cy="165100"/>
          </a:xfrm>
        </p:grpSpPr>
        <p:pic>
          <p:nvPicPr>
            <p:cNvPr id="3" name="object 3">
              <a:extLst>
                <a:ext uri="{FF2B5EF4-FFF2-40B4-BE49-F238E27FC236}">
                  <a16:creationId xmlns:a16="http://schemas.microsoft.com/office/drawing/2014/main" id="{13880073-B6E1-EE93-72A8-2FAC4019142A}"/>
                </a:ext>
              </a:extLst>
            </p:cNvPr>
            <p:cNvPicPr/>
            <p:nvPr/>
          </p:nvPicPr>
          <p:blipFill>
            <a:blip r:embed="rId4" cstate="print"/>
            <a:stretch>
              <a:fillRect/>
            </a:stretch>
          </p:blipFill>
          <p:spPr>
            <a:xfrm>
              <a:off x="0" y="6714742"/>
              <a:ext cx="12192000" cy="143256"/>
            </a:xfrm>
            <a:prstGeom prst="rect">
              <a:avLst/>
            </a:prstGeom>
          </p:spPr>
        </p:pic>
        <p:sp>
          <p:nvSpPr>
            <p:cNvPr id="4" name="object 4">
              <a:extLst>
                <a:ext uri="{FF2B5EF4-FFF2-40B4-BE49-F238E27FC236}">
                  <a16:creationId xmlns:a16="http://schemas.microsoft.com/office/drawing/2014/main" id="{C98C6DE3-DDF1-DF38-A541-B8FBDEBEC1BF}"/>
                </a:ext>
              </a:extLst>
            </p:cNvPr>
            <p:cNvSpPr/>
            <p:nvPr/>
          </p:nvSpPr>
          <p:spPr>
            <a:xfrm>
              <a:off x="0" y="6693406"/>
              <a:ext cx="12192000" cy="164465"/>
            </a:xfrm>
            <a:custGeom>
              <a:avLst/>
              <a:gdLst/>
              <a:ahLst/>
              <a:cxnLst/>
              <a:rect l="l" t="t" r="r" b="b"/>
              <a:pathLst>
                <a:path w="12192000" h="164465">
                  <a:moveTo>
                    <a:pt x="12192000" y="0"/>
                  </a:moveTo>
                  <a:lnTo>
                    <a:pt x="0" y="0"/>
                  </a:lnTo>
                  <a:lnTo>
                    <a:pt x="0" y="164160"/>
                  </a:lnTo>
                  <a:lnTo>
                    <a:pt x="12192000" y="164160"/>
                  </a:lnTo>
                  <a:lnTo>
                    <a:pt x="12192000" y="0"/>
                  </a:lnTo>
                  <a:close/>
                </a:path>
              </a:pathLst>
            </a:custGeom>
            <a:solidFill>
              <a:srgbClr val="006FC0"/>
            </a:solidFill>
          </p:spPr>
          <p:txBody>
            <a:bodyPr wrap="square" lIns="0" tIns="0" rIns="0" bIns="0" rtlCol="0"/>
            <a:lstStyle/>
            <a:p>
              <a:endParaRPr/>
            </a:p>
          </p:txBody>
        </p:sp>
      </p:grpSp>
      <p:sp>
        <p:nvSpPr>
          <p:cNvPr id="8" name="object 8">
            <a:extLst>
              <a:ext uri="{FF2B5EF4-FFF2-40B4-BE49-F238E27FC236}">
                <a16:creationId xmlns:a16="http://schemas.microsoft.com/office/drawing/2014/main" id="{45249D2C-FFCB-8AB6-E354-9B44DE63EDEB}"/>
              </a:ext>
            </a:extLst>
          </p:cNvPr>
          <p:cNvSpPr txBox="1"/>
          <p:nvPr/>
        </p:nvSpPr>
        <p:spPr>
          <a:xfrm>
            <a:off x="4414265" y="6646276"/>
            <a:ext cx="3894454" cy="223520"/>
          </a:xfrm>
          <a:prstGeom prst="rect">
            <a:avLst/>
          </a:prstGeom>
        </p:spPr>
        <p:txBody>
          <a:bodyPr vert="horz" wrap="square" lIns="0" tIns="0" rIns="0" bIns="0" rtlCol="0">
            <a:spAutoFit/>
          </a:bodyPr>
          <a:lstStyle/>
          <a:p>
            <a:pPr marL="12700">
              <a:lnSpc>
                <a:spcPts val="1639"/>
              </a:lnSpc>
            </a:pPr>
            <a:r>
              <a:rPr sz="1400" dirty="0">
                <a:latin typeface="Microsoft Sans Serif"/>
                <a:cs typeface="Microsoft Sans Serif"/>
              </a:rPr>
              <a:t>DEPARTMENT</a:t>
            </a:r>
            <a:r>
              <a:rPr sz="1400" spc="-40" dirty="0">
                <a:latin typeface="Microsoft Sans Serif"/>
                <a:cs typeface="Microsoft Sans Serif"/>
              </a:rPr>
              <a:t> </a:t>
            </a:r>
            <a:r>
              <a:rPr sz="1400" dirty="0">
                <a:latin typeface="Microsoft Sans Serif"/>
                <a:cs typeface="Microsoft Sans Serif"/>
              </a:rPr>
              <a:t>OF</a:t>
            </a:r>
            <a:r>
              <a:rPr sz="1400" spc="-55" dirty="0">
                <a:latin typeface="Microsoft Sans Serif"/>
                <a:cs typeface="Microsoft Sans Serif"/>
              </a:rPr>
              <a:t> </a:t>
            </a:r>
            <a:r>
              <a:rPr sz="1400" dirty="0">
                <a:latin typeface="Microsoft Sans Serif"/>
                <a:cs typeface="Microsoft Sans Serif"/>
              </a:rPr>
              <a:t>COMPUTER</a:t>
            </a:r>
            <a:r>
              <a:rPr sz="1400" spc="-25" dirty="0">
                <a:latin typeface="Microsoft Sans Serif"/>
                <a:cs typeface="Microsoft Sans Serif"/>
              </a:rPr>
              <a:t> </a:t>
            </a:r>
            <a:r>
              <a:rPr sz="1400" spc="-10" dirty="0">
                <a:latin typeface="Microsoft Sans Serif"/>
                <a:cs typeface="Microsoft Sans Serif"/>
              </a:rPr>
              <a:t>ENGINEERING</a:t>
            </a:r>
            <a:endParaRPr sz="1400">
              <a:latin typeface="Microsoft Sans Serif"/>
              <a:cs typeface="Microsoft Sans Serif"/>
            </a:endParaRPr>
          </a:p>
        </p:txBody>
      </p:sp>
      <p:sp>
        <p:nvSpPr>
          <p:cNvPr id="9" name="object 9">
            <a:extLst>
              <a:ext uri="{FF2B5EF4-FFF2-40B4-BE49-F238E27FC236}">
                <a16:creationId xmlns:a16="http://schemas.microsoft.com/office/drawing/2014/main" id="{BB88128B-9F37-B153-B67E-3A9B24FA3B51}"/>
              </a:ext>
            </a:extLst>
          </p:cNvPr>
          <p:cNvSpPr txBox="1"/>
          <p:nvPr/>
        </p:nvSpPr>
        <p:spPr>
          <a:xfrm>
            <a:off x="11749353" y="6646276"/>
            <a:ext cx="260000" cy="173766"/>
          </a:xfrm>
          <a:prstGeom prst="rect">
            <a:avLst/>
          </a:prstGeom>
        </p:spPr>
        <p:txBody>
          <a:bodyPr vert="horz" wrap="square" lIns="0" tIns="4445" rIns="0" bIns="0" rtlCol="0">
            <a:spAutoFit/>
          </a:bodyPr>
          <a:lstStyle/>
          <a:p>
            <a:pPr marL="12700">
              <a:lnSpc>
                <a:spcPct val="100000"/>
              </a:lnSpc>
              <a:spcBef>
                <a:spcPts val="35"/>
              </a:spcBef>
            </a:pPr>
            <a:r>
              <a:rPr lang="en-US" sz="1100" b="1" spc="-50" dirty="0">
                <a:solidFill>
                  <a:srgbClr val="FFFFFF"/>
                </a:solidFill>
                <a:latin typeface="Trebuchet MS"/>
                <a:cs typeface="Trebuchet MS"/>
              </a:rPr>
              <a:t>11</a:t>
            </a:r>
            <a:endParaRPr sz="1100" dirty="0">
              <a:latin typeface="Trebuchet MS"/>
              <a:cs typeface="Trebuchet MS"/>
            </a:endParaRPr>
          </a:p>
        </p:txBody>
      </p:sp>
      <p:sp>
        <p:nvSpPr>
          <p:cNvPr id="10" name="TextBox 9">
            <a:extLst>
              <a:ext uri="{FF2B5EF4-FFF2-40B4-BE49-F238E27FC236}">
                <a16:creationId xmlns:a16="http://schemas.microsoft.com/office/drawing/2014/main" id="{23D15B79-2F28-DC24-8103-AC40AB6109E9}"/>
              </a:ext>
            </a:extLst>
          </p:cNvPr>
          <p:cNvSpPr txBox="1"/>
          <p:nvPr/>
        </p:nvSpPr>
        <p:spPr>
          <a:xfrm>
            <a:off x="1241298" y="86790"/>
            <a:ext cx="9709403" cy="646331"/>
          </a:xfrm>
          <a:prstGeom prst="rect">
            <a:avLst/>
          </a:prstGeom>
          <a:noFill/>
        </p:spPr>
        <p:txBody>
          <a:bodyPr wrap="square" rtlCol="0">
            <a:spAutoFit/>
          </a:bodyPr>
          <a:lstStyle/>
          <a:p>
            <a:pPr marL="12700" algn="ctr">
              <a:lnSpc>
                <a:spcPct val="100000"/>
              </a:lnSpc>
              <a:spcBef>
                <a:spcPts val="105"/>
              </a:spcBef>
              <a:tabLst>
                <a:tab pos="357505" algn="l"/>
              </a:tabLst>
            </a:pPr>
            <a:r>
              <a:rPr lang="en-US" sz="3600" b="1" dirty="0">
                <a:latin typeface="Times New Roman" panose="02020603050405020304" pitchFamily="18" charset="0"/>
                <a:cs typeface="Times New Roman" panose="02020603050405020304" pitchFamily="18" charset="0"/>
              </a:rPr>
              <a:t>Prototype Scope and Limitations</a:t>
            </a:r>
          </a:p>
        </p:txBody>
      </p:sp>
      <p:sp>
        <p:nvSpPr>
          <p:cNvPr id="5" name="TextBox 4">
            <a:extLst>
              <a:ext uri="{FF2B5EF4-FFF2-40B4-BE49-F238E27FC236}">
                <a16:creationId xmlns:a16="http://schemas.microsoft.com/office/drawing/2014/main" id="{BC866EE5-461B-8FDF-3852-5151734C9237}"/>
              </a:ext>
            </a:extLst>
          </p:cNvPr>
          <p:cNvSpPr txBox="1"/>
          <p:nvPr/>
        </p:nvSpPr>
        <p:spPr>
          <a:xfrm>
            <a:off x="293992" y="950976"/>
            <a:ext cx="11663311" cy="6001643"/>
          </a:xfrm>
          <a:prstGeom prst="rect">
            <a:avLst/>
          </a:prstGeom>
          <a:noFill/>
        </p:spPr>
        <p:txBody>
          <a:bodyPr wrap="square" rtlCol="0">
            <a:spAutoFit/>
          </a:bodyPr>
          <a:lstStyle/>
          <a:p>
            <a:pPr marL="342900" indent="-342900" rtl="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What the Current Website Is</a:t>
            </a: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The website is a demo-only prototype: no real money is collected, no wallet is connected and no blockchain transaction takes place. References and fund releases are simulated, and all data, including the ledger, is stored in the browser, so it is not immutable, distributed or independently verifiable. Contributions form one shared pool per project (not tracked rupee by rupee), and the contribution history is community-wide, not a private account. The role selector is not a login, and evidence files are saved as metadata only.</a:t>
            </a:r>
          </a:p>
          <a:p>
            <a:pPr rtl="0"/>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Limitations and Future Work</a:t>
            </a: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A production version would need secure role-based accounts, a shared backend, real payment handling and a smart contract (for example on Ethereum or Polygon) to enforce the two-of-three release rule. Evidence files would be stored off-chain (for example on IPFS) with a hash recorded on-chain to detect tampering, although a hash cannot prove that the original photograph or claim is true.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535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TotalTime>
  <Words>1431</Words>
  <Application>Microsoft Office PowerPoint</Application>
  <PresentationFormat>Widescreen</PresentationFormat>
  <Paragraphs>114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DATTA MEGHE COLLEGE OF ENGINEERING, AIROLI DEPARTMENT OF COMPUTER ENGINEERING</vt:lpstr>
      <vt:lpstr>C o n t e n 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DATTA MEGHE COLLEGE OF ENGINEERING, AIROLI DEPARTMENT OF COMPUTER ENGINEERING</dc:title>
  <cp:lastModifiedBy>raj yadav</cp:lastModifiedBy>
  <cp:revision>2</cp:revision>
  <dcterms:created xsi:type="dcterms:W3CDTF">2026-10-04T07:01:43Z</dcterms:created>
  <dcterms:modified xsi:type="dcterms:W3CDTF">2026-10-04T10:12:31Z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2026-09-22T00:00:00Z</vt:filetime>
  </property>
  <property fmtid="{D5CDD505-2E9C-101B-9397-08002B2CF9AE}" pid="4" name="Creator">
    <vt:lpwstr>Microsoft® PowerPoint® 2016</vt:lpwstr>
  </property>
  <property fmtid="{D5CDD505-2E9C-101B-9397-08002B2CF9AE}" pid="5" name="LastSaved">
    <vt:filetime>2026-10-04T00:00:00Z</vt:filetime>
  </property>
  <property fmtid="{D5CDD505-2E9C-101B-9397-08002B2CF9AE}" pid="6" name="Producer">
    <vt:lpwstr>www.ilovepdf.com</vt:lpwstr>
  </property>
</Properties>
</file>